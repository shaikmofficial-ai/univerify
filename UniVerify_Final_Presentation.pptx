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>
                <a:solidFill>
                  <a:srgbClr val="F0F6FC"/>
                </a:solidFill>
              </a:defRPr>
            </a:pPr>
            <a:r>
              <a:t>Capability Score (out of 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System</c:v>
                </c:pt>
              </c:strCache>
            </c:strRef>
          </c:tx>
          <c:spPr>
            <a:solidFill>
              <a:srgbClr val="F78A3B"/>
            </a:solidFill>
          </c:spPr>
          <c:cat>
            <c:strRef>
              <c:f>Sheet1!$A$2:$A$7</c:f>
              <c:strCache>
                <c:ptCount val="6"/>
                <c:pt idx="0">
                  <c:v>Security</c:v>
                </c:pt>
                <c:pt idx="1">
                  <c:v>Speed</c:v>
                </c:pt>
                <c:pt idx="2">
                  <c:v>Transparency</c:v>
                </c:pt>
                <c:pt idx="3">
                  <c:v>Tamper-
Resistance</c:v>
                </c:pt>
                <c:pt idx="4">
                  <c:v>Trust</c:v>
                </c:pt>
                <c:pt idx="5">
                  <c:v>Global
Access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UniVerify (Proposed)</c:v>
                </c:pt>
              </c:strCache>
            </c:strRef>
          </c:tx>
          <c:spPr>
            <a:solidFill>
              <a:srgbClr val="3FB950"/>
            </a:solidFill>
          </c:spPr>
          <c:cat>
            <c:strRef>
              <c:f>Sheet1!$A$2:$A$7</c:f>
              <c:strCache>
                <c:ptCount val="6"/>
                <c:pt idx="0">
                  <c:v>Security</c:v>
                </c:pt>
                <c:pt idx="1">
                  <c:v>Speed</c:v>
                </c:pt>
                <c:pt idx="2">
                  <c:v>Transparency</c:v>
                </c:pt>
                <c:pt idx="3">
                  <c:v>Tamper-
Resistance</c:v>
                </c:pt>
                <c:pt idx="4">
                  <c:v>Trust</c:v>
                </c:pt>
                <c:pt idx="5">
                  <c:v>Global
Access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</c:v>
                </c:pt>
                <c:pt idx="1">
                  <c:v>9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F0F6F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8B949E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F0F6FC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583680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040880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96912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54112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10144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67344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23376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80576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3808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149840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0" y="65836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863072" y="45720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325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Segoe UI"/>
              </a:rPr>
              <a:t>BLOCKCHAIN  •  WEB3  •  FINAL 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F0F6FC"/>
                </a:solidFill>
                <a:latin typeface="Segoe UI Semibold"/>
              </a:rPr>
              <a:t>UniVerify V2.0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803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  <a:latin typeface="Segoe UI"/>
              </a:rPr>
              <a:t>Decentralized Academic Credential Verification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49300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8B949E"/>
                </a:solidFill>
                <a:latin typeface="Segoe UI"/>
              </a:rPr>
              <a:t>Eliminating certificate forgery using immutable Ethereum smart contracts.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160520"/>
            <a:ext cx="6035040" cy="1874519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31596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WORK DONE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8172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Shaik Abdulla 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70001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8B949E"/>
                </a:solidFill>
                <a:latin typeface="Segoe UI"/>
              </a:rPr>
              <a:t>231061101493  •  CSE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157216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Narendra Reddy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17550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0" i="0">
                <a:solidFill>
                  <a:srgbClr val="8B949E"/>
                </a:solidFill>
                <a:latin typeface="Segoe UI"/>
              </a:rPr>
              <a:t>231061101489  •  CSE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4160520"/>
            <a:ext cx="4251960" cy="1874519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FB950"/>
                </a:solidFill>
                <a:latin typeface="Segoe UI"/>
              </a:rPr>
              <a:t>PROJECT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73659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Dr. [Guide Name]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212080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B949E"/>
                </a:solidFill>
                <a:latin typeface="Segoe UI"/>
              </a:rPr>
              <a:t>Department of Computer Science &amp; Engineering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PROJECT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Abstract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02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6858000" cy="44805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74519"/>
            <a:ext cx="63093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 i="0">
                <a:solidFill>
                  <a:srgbClr val="F0F6FC"/>
                </a:solidFill>
                <a:latin typeface="Segoe UI"/>
              </a:rPr>
              <a:t>UniVerify V2.0 is a Web3 application engineered to eliminate academic credential forgery.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 i="0">
                <a:solidFill>
                  <a:srgbClr val="8B949E"/>
                </a:solidFill>
                <a:latin typeface="Segoe UI"/>
              </a:rPr>
              <a:t>Educational institutions anchor degree metadata to the Ethereum Sepolia Testnet using cryptographic hashes. Once a transaction is mined, the record becomes permanent and tamper-proof.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0" i="0">
                <a:solidFill>
                  <a:srgbClr val="8B949E"/>
                </a:solidFill>
                <a:latin typeface="Segoe UI"/>
              </a:rPr>
              <a:t>Verification is instant: a recruiter enters a student's Register Number and the system queries the blockchain in O(1) time via Solidity mappings, returning a cryptographically-backed authentic record — with no central authority required.</a:t>
            </a:r>
          </a:p>
          <a:p>
            <a:pPr algn="l">
              <a:lnSpc>
                <a:spcPct val="120000"/>
              </a:lnSpc>
            </a:pPr>
            <a:r>
              <a:rPr sz="1350" b="0" i="1">
                <a:solidFill>
                  <a:srgbClr val="3FB950"/>
                </a:solidFill>
                <a:latin typeface="Segoe UI"/>
              </a:rPr>
              <a:t>The result is a trustless, transparent and globally verifiable system for academic certificates.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600200"/>
            <a:ext cx="3840480" cy="978408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09928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3FB950"/>
                </a:solidFill>
                <a:latin typeface="Segoe UI Semibold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709928"/>
            <a:ext cx="2103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Tamper-proof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715768"/>
            <a:ext cx="3840480" cy="978408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825496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58A6FF"/>
                </a:solidFill>
                <a:latin typeface="Segoe UI Semibold"/>
              </a:rPr>
              <a:t>O(1)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825496"/>
            <a:ext cx="2103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Lookup 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3831336"/>
            <a:ext cx="3840480" cy="978408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941064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BC8CFF"/>
                </a:solidFill>
                <a:latin typeface="Segoe UI Semi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941064"/>
            <a:ext cx="2103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Central authorities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4946904"/>
            <a:ext cx="3840480" cy="978408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5056632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78A3B"/>
                </a:solidFill>
                <a:latin typeface="Segoe UI Semibold"/>
              </a:rPr>
              <a:t>24/7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5056632"/>
            <a:ext cx="2103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Global verification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BACKGROUND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03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8B949E"/>
                </a:solidFill>
                <a:latin typeface="Segoe UI"/>
              </a:rPr>
              <a:t>Academic certificates are the primary proof of a person's qualifications, yet they remain one of the easiest documents to forge. As education and hiring go global and digital, the need for a fast, trustworthy and universally verifiable credential system has never been greater.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180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971800"/>
            <a:ext cx="82296" cy="146304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363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Blockchain 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A blockchain is a distributed, append-only ledger where records are cryptographically chained, making stored data immutable and transparent.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97180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971800"/>
            <a:ext cx="82296" cy="146304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1363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Smart Contracts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3872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Self-executing programs on Ethereum that enforce rules automatically — here, only the university wallet may issue a certificate.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36008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36008"/>
            <a:ext cx="82296" cy="146304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Why UniVerify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20293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It moves credential records from vulnerable centralized databases onto a public, tamper-proof blockchain accessible to anyone.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636008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636008"/>
            <a:ext cx="82296" cy="1463040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8006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Scope of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20293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A working DApp with a Solidity contract on Sepolia Testnet and a Web3 frontend for issuing and verifying degrees.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Literature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04 / 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9164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840480"/>
                <a:gridCol w="457200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117"/>
                          </a:solidFill>
                          <a:latin typeface="Segoe UI"/>
                        </a:rPr>
                        <a:t>Author / Year</a:t>
                      </a:r>
                    </a:p>
                  </a:txBody>
                  <a:tcPr anchor="ctr" marL="109728" marR="91440" marT="36576" marB="36576"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117"/>
                          </a:solidFill>
                          <a:latin typeface="Segoe UI"/>
                        </a:rPr>
                        <a:t>Approach / Focus</a:t>
                      </a:r>
                    </a:p>
                  </a:txBody>
                  <a:tcPr anchor="ctr" marL="109728" marR="91440" marT="36576" marB="36576"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D1117"/>
                          </a:solidFill>
                          <a:latin typeface="Segoe UI"/>
                        </a:rPr>
                        <a:t>Limitation Addressed by UniVerify</a:t>
                      </a:r>
                    </a:p>
                  </a:txBody>
                  <a:tcPr anchor="ctr" marL="109728" marR="91440" marT="36576" marB="36576">
                    <a:solidFill>
                      <a:srgbClr val="58A6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0F6FC"/>
                          </a:solidFill>
                          <a:latin typeface="Segoe UI"/>
                        </a:rPr>
                        <a:t>Gresch et al., 2018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Blockchain-based diploma verification on Ethereum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Complex setup; UniVerify offers a lightweight register-no lookup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0F6FC"/>
                          </a:solidFill>
                          <a:latin typeface="Segoe UI"/>
                        </a:rPr>
                        <a:t>Cheng et al., 2018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Hash of certificate stored on-chain (Blockcerts style)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No simple public UI; UniVerify adds a self-service web portal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0F6FC"/>
                          </a:solidFill>
                          <a:latin typeface="Segoe UI"/>
                        </a:rPr>
                        <a:t>Arenas &amp; Fernandez, 2018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University credential issuance via smart contracts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Centralized issuer keys; UniVerify uses on-chain owner lock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0F6FC"/>
                          </a:solidFill>
                          <a:latin typeface="Segoe UI"/>
                        </a:rPr>
                        <a:t>Saleh et al., 2020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IPFS + blockchain for document integrity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UniVerify links on-chain record to IPFS hash for the file</a:t>
                      </a:r>
                    </a:p>
                  </a:txBody>
                  <a:tcPr anchor="ctr" marL="109728" marR="91440" marT="36576" marB="36576">
                    <a:solidFill>
                      <a:srgbClr val="1C222B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0F6FC"/>
                          </a:solidFill>
                          <a:latin typeface="Segoe UI"/>
                        </a:rPr>
                        <a:t>Traditional Systems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Paper certificates &amp; centralized DB verification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8B949E"/>
                          </a:solidFill>
                          <a:latin typeface="Segoe UI"/>
                        </a:rPr>
                        <a:t>Forgeable &amp; slow; UniVerify is immutable &amp; instant</a:t>
                      </a:r>
                    </a:p>
                  </a:txBody>
                  <a:tcPr anchor="ctr" marL="109728" marR="91440" marT="36576" marB="36576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HOW VERIFICATION WORKS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Existing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B949E"/>
                </a:solidFill>
                <a:latin typeface="Segoe UI"/>
              </a:rPr>
              <a:t>Most institutions still rely on paper certificates and centralized databases, verified manually on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5349240" cy="82296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42032"/>
            <a:ext cx="4892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Paper Certificates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Physical documents with seals, stamps and signatures issued by the institution.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28600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286000"/>
            <a:ext cx="5349240" cy="82296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542032"/>
            <a:ext cx="4892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Centralized 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01752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Records kept in a single university server / management system.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0624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06240"/>
            <a:ext cx="5349240" cy="82296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462272"/>
            <a:ext cx="4892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Manual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377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Employers email or call the university and wait for confirmation.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206240"/>
            <a:ext cx="5349240" cy="1691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206240"/>
            <a:ext cx="5349240" cy="82296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462272"/>
            <a:ext cx="4892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Document Scans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377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PDFs / photocopies shared over email as 'proof' of a degree.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CENTRALIZED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Architecture of Existing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06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23160"/>
            <a:ext cx="2331720" cy="1371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78A3B"/>
                </a:solidFill>
                <a:latin typeface="Segoe UI"/>
              </a:rPr>
              <a:t>Student /
Applicant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880360"/>
            <a:ext cx="2185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Submits / shares paper certificate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17520" y="2971800"/>
            <a:ext cx="502920" cy="0"/>
          </a:xfrm>
          <a:prstGeom prst="line">
            <a:avLst/>
          </a:prstGeom>
          <a:ln w="19050">
            <a:solidFill>
              <a:srgbClr val="F78A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2423160"/>
            <a:ext cx="2331720" cy="1371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54203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8A6FF"/>
                </a:solidFill>
                <a:latin typeface="Segoe UI"/>
              </a:rPr>
              <a:t>University
Admin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2880360"/>
            <a:ext cx="2185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Issues &amp; records certificate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971800"/>
            <a:ext cx="502920" cy="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0" y="2423160"/>
            <a:ext cx="2331720" cy="1371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54203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C8CFF"/>
                </a:solidFill>
                <a:latin typeface="Segoe UI"/>
              </a:rPr>
              <a:t>Centralized
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2880360"/>
            <a:ext cx="2185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Single server stores records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0" y="2834640"/>
            <a:ext cx="731520" cy="0"/>
          </a:xfrm>
          <a:prstGeom prst="line">
            <a:avLst/>
          </a:prstGeom>
          <a:ln w="19050">
            <a:solidFill>
              <a:srgbClr val="F85149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38360" y="2423160"/>
            <a:ext cx="1828800" cy="13716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254203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85149"/>
                </a:solidFill>
                <a:latin typeface="Segoe UI"/>
              </a:rPr>
              <a:t>Employer /
Verifier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2" y="2880360"/>
            <a:ext cx="16824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Emails to confirm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8B949E"/>
                </a:solidFill>
                <a:latin typeface="Segoe UI"/>
              </a:rPr>
              <a:t>Verification is manual and slow — the verifier must contact the university, which queries its single database.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8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754880"/>
            <a:ext cx="2286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⚠  Single point of failure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475488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0440" y="4754880"/>
            <a:ext cx="2286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⚠  No public transparency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75488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754880"/>
            <a:ext cx="2286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⚠  Forgeable documents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4754880"/>
            <a:ext cx="2560320" cy="868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4754880"/>
            <a:ext cx="22860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⚠  Slow (days/weeks)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Drawbacks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07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85149"/>
                </a:solidFill>
                <a:latin typeface="Segoe UI"/>
              </a:rPr>
              <a:t>Problem Statement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F0F6FC"/>
                </a:solidFill>
                <a:latin typeface="Segoe UI"/>
              </a:rPr>
              <a:t>Existing credential verification depends on centralized, manual and forgeable processes — there is no fast, tamper-proof and globally trusted way to confirm whether an academic certificate is authentic.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260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3218688"/>
            <a:ext cx="502920" cy="50292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1868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16382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Rampant Forgery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584448"/>
            <a:ext cx="4160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Certificates are easily edited, copied or fabricated.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2608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3952" y="3218688"/>
            <a:ext cx="502920" cy="502920"/>
          </a:xfrm>
          <a:prstGeom prst="ellipse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321868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6382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Slow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584448"/>
            <a:ext cx="4160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Manual checks take days or weeks per request.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6112" y="4864608"/>
            <a:ext cx="502920" cy="502920"/>
          </a:xfrm>
          <a:prstGeom prst="ellipse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86460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80974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Single Point of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230368"/>
            <a:ext cx="4160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A lost or hacked database makes records unverifiable.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57200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73952" y="4864608"/>
            <a:ext cx="502920" cy="50292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486460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480974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0F6FC"/>
                </a:solidFill>
                <a:latin typeface="Segoe UI"/>
              </a:rPr>
              <a:t>No Global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5230368"/>
            <a:ext cx="4160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Cross-border verification is inconsistent and costly.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UNIVERIFY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Proposed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08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3FB950"/>
                </a:solidFill>
                <a:latin typeface="Segoe UI"/>
              </a:rPr>
              <a:t>A decentralized portal that anchors credentials on the Ethereum blockchain for instant, trustless verification.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" y="245973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45973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8A6FF"/>
                </a:solidFill>
                <a:latin typeface="Segoe UI Semi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51460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Immutable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2004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Credential metadata is stored on-chain and can never be altered or deleted.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224028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62856" y="245973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245973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FB950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51460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Instant 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2004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Anyone can verify a degree in seconds using only the Register Number.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24028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7888" y="245973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45973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C8CFF"/>
                </a:solidFill>
                <a:latin typeface="Segoe UI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251460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Owner-Locked Issuance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32004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Only the university wallet can issue certificates via on-chain access control.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0624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7824" y="442569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42569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78A3B"/>
                </a:solidFill>
                <a:latin typeface="Segoe UI Semibol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48056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Cryptographic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16636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An IPFS hash links the on-chain record to the actual certificate file.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420624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62856" y="442569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2856" y="442569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8A6FF"/>
                </a:solidFill>
                <a:latin typeface="Segoe UI Semibol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5232" y="448056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No Middlemen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516636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Trustless verification removes the need to contact the university.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4206240"/>
            <a:ext cx="3520440" cy="17830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47888" y="4425696"/>
            <a:ext cx="594360" cy="59436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47888" y="4425696"/>
            <a:ext cx="5943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FB950"/>
                </a:solidFill>
                <a:latin typeface="Segoe UI Semibol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4480560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0F6FC"/>
                </a:solidFill>
                <a:latin typeface="Segoe UI"/>
              </a:rPr>
              <a:t>Web3 Portal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8" y="516636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A clean MetaMask-connected DApp for issuing and verifying degrees.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END-TO-END DECENTRALIZED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Architecture of Proposed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09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24028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219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8A6FF"/>
                </a:solidFill>
                <a:latin typeface="Segoe UI"/>
              </a:rPr>
              <a:t>User /
Recruiter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560320"/>
            <a:ext cx="20939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Enters Register No in web portal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2606040"/>
            <a:ext cx="548640" cy="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29000" y="2103120"/>
            <a:ext cx="224028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2219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FB950"/>
                </a:solidFill>
                <a:latin typeface="Segoe UI"/>
              </a:rPr>
              <a:t>Frontend DApp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2560320"/>
            <a:ext cx="20939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HTML / CSS / JS UI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15000" y="2606040"/>
            <a:ext cx="548640" cy="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09360" y="2103120"/>
            <a:ext cx="224028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2219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C8CFF"/>
                </a:solidFill>
                <a:latin typeface="Segoe UI"/>
              </a:rPr>
              <a:t>Ethers.js +
MetaMask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560320"/>
            <a:ext cx="209397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Web3 bridge signs &amp; sends calls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595360" y="2606040"/>
            <a:ext cx="548640" cy="0"/>
          </a:xfrm>
          <a:prstGeom prst="line">
            <a:avLst/>
          </a:prstGeom>
          <a:ln w="19050">
            <a:solidFill>
              <a:srgbClr val="BC8C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89720" y="2103120"/>
            <a:ext cx="242316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22219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78A3B"/>
                </a:solidFill>
                <a:latin typeface="Segoe UI"/>
              </a:rPr>
              <a:t>Smart
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560320"/>
            <a:ext cx="227685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8B949E"/>
                </a:solidFill>
                <a:latin typeface="Segoe UI"/>
              </a:rPr>
              <a:t>AcademicCertificates on Sepolia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233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Segoe UI"/>
              </a:rPr>
              <a:t>Ethereum Sepolia Testnet  —  Immutable Distributed Ledger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47672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47672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7672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0x1087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82112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346704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6704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6704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0x210e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81144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45736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5736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45736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0x3195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44768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4768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4768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0x421c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9208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543800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0x52a3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78240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42832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2832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2832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0x632a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77272" y="475488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341864" y="438912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41864" y="449884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41864" y="47731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0x73b1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3949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B949E"/>
                </a:solidFill>
                <a:latin typeface="Segoe UI"/>
              </a:rPr>
              <a:t>Each block is cryptographically linked to the previous one — altering any record breaks the entire 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SYSTEM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Module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10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9744" y="3246120"/>
            <a:ext cx="2560320" cy="1097280"/>
          </a:xfrm>
          <a:prstGeom prst="roundRect">
            <a:avLst/>
          </a:prstGeom>
          <a:solidFill>
            <a:srgbClr val="1C222B"/>
          </a:solidFill>
          <a:ln w="2540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9744" y="3246120"/>
            <a:ext cx="2560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58A6FF"/>
                </a:solidFill>
                <a:latin typeface="Segoe UI"/>
              </a:rPr>
              <a:t>UniVerify
Core System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83080"/>
            <a:ext cx="3337560" cy="114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92938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FB950"/>
                </a:solidFill>
                <a:latin typeface="Segoe UI"/>
              </a:rPr>
              <a:t>1. Wallet Connection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313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Connects MetaMask &amp; detects account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04288" y="2331720"/>
            <a:ext cx="3785616" cy="1463040"/>
          </a:xfrm>
          <a:prstGeom prst="line">
            <a:avLst/>
          </a:prstGeom>
          <a:ln w="19050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1783080"/>
            <a:ext cx="3337560" cy="114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92938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C8CFF"/>
                </a:solidFill>
                <a:latin typeface="Segoe UI"/>
              </a:rPr>
              <a:t>2. Certificate Issuance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3134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Admin writes record to blockchain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089904" y="2331720"/>
            <a:ext cx="3803904" cy="1463040"/>
          </a:xfrm>
          <a:prstGeom prst="line">
            <a:avLst/>
          </a:prstGeom>
          <a:ln w="19050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4892040"/>
            <a:ext cx="3337560" cy="114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83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78A3B"/>
                </a:solidFill>
                <a:latin typeface="Segoe UI"/>
              </a:rPr>
              <a:t>3.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4223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Reads record by Register Number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304288" y="3794760"/>
            <a:ext cx="3785616" cy="1645920"/>
          </a:xfrm>
          <a:prstGeom prst="line">
            <a:avLst/>
          </a:prstGeom>
          <a:ln w="19050">
            <a:solidFill>
              <a:srgbClr val="F78A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0" y="4892040"/>
            <a:ext cx="3337560" cy="11430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4192" y="503834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Segoe UI"/>
              </a:rPr>
              <a:t>4. Blockchain Interaction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54223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Ethers.js calls to smart contract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6089904" y="3794760"/>
            <a:ext cx="3803904" cy="1645920"/>
          </a:xfrm>
          <a:prstGeom prst="line">
            <a:avLst/>
          </a:prstGeom>
          <a:ln w="19050">
            <a:solidFill>
              <a:srgbClr val="58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425696" y="5440680"/>
            <a:ext cx="3337560" cy="914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555955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85149"/>
                </a:solidFill>
                <a:latin typeface="Segoe UI"/>
              </a:rPr>
              <a:t>5. Result / UI Display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590702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  <a:latin typeface="Segoe UI"/>
              </a:rPr>
              <a:t>Renders success / error states to user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089904" y="4343400"/>
            <a:ext cx="0" cy="1097280"/>
          </a:xfrm>
          <a:prstGeom prst="line">
            <a:avLst/>
          </a:prstGeom>
          <a:ln w="19050">
            <a:solidFill>
              <a:srgbClr val="F8514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1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Use Case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11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691640"/>
            <a:ext cx="5486400" cy="4297680"/>
          </a:xfrm>
          <a:prstGeom prst="roundRect">
            <a:avLst/>
          </a:prstGeom>
          <a:noFill/>
          <a:ln w="2222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783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8A6FF"/>
                </a:solidFill>
                <a:latin typeface="Segoe UI"/>
              </a:rPr>
              <a:t>UniVerify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2468880"/>
            <a:ext cx="292608" cy="292608"/>
          </a:xfrm>
          <a:prstGeom prst="ellipse">
            <a:avLst/>
          </a:prstGeom>
          <a:solidFill>
            <a:srgbClr val="1C222B"/>
          </a:solidFill>
          <a:ln w="2540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463040" y="2761488"/>
            <a:ext cx="0" cy="457200"/>
          </a:xfrm>
          <a:prstGeom prst="line">
            <a:avLst/>
          </a:prstGeom>
          <a:ln w="25400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88720" y="2889504"/>
            <a:ext cx="548640" cy="0"/>
          </a:xfrm>
          <a:prstGeom prst="line">
            <a:avLst/>
          </a:prstGeom>
          <a:ln w="25400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243584" y="3218688"/>
            <a:ext cx="219456" cy="310896"/>
          </a:xfrm>
          <a:prstGeom prst="line">
            <a:avLst/>
          </a:prstGeom>
          <a:ln w="25400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3040" y="3218688"/>
            <a:ext cx="219456" cy="310896"/>
          </a:xfrm>
          <a:prstGeom prst="line">
            <a:avLst/>
          </a:prstGeom>
          <a:ln w="25400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358444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0F6FC"/>
                </a:solidFill>
                <a:latin typeface="Segoe UI"/>
              </a:rPr>
              <a:t>University Admin</a:t>
            </a:r>
          </a:p>
        </p:txBody>
      </p:sp>
      <p:sp>
        <p:nvSpPr>
          <p:cNvPr id="17" name="Oval 16"/>
          <p:cNvSpPr/>
          <p:nvPr/>
        </p:nvSpPr>
        <p:spPr>
          <a:xfrm>
            <a:off x="10369296" y="2468880"/>
            <a:ext cx="292608" cy="292608"/>
          </a:xfrm>
          <a:prstGeom prst="ellipse">
            <a:avLst/>
          </a:prstGeom>
          <a:solidFill>
            <a:srgbClr val="1C222B"/>
          </a:solidFill>
          <a:ln w="2540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0515600" y="2761488"/>
            <a:ext cx="0" cy="457200"/>
          </a:xfrm>
          <a:prstGeom prst="line">
            <a:avLst/>
          </a:prstGeom>
          <a:ln w="25400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1280" y="2889504"/>
            <a:ext cx="548640" cy="0"/>
          </a:xfrm>
          <a:prstGeom prst="line">
            <a:avLst/>
          </a:prstGeom>
          <a:ln w="25400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0296144" y="3218688"/>
            <a:ext cx="219456" cy="310896"/>
          </a:xfrm>
          <a:prstGeom prst="line">
            <a:avLst/>
          </a:prstGeom>
          <a:ln w="25400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515600" y="3218688"/>
            <a:ext cx="219456" cy="310896"/>
          </a:xfrm>
          <a:prstGeom prst="line">
            <a:avLst/>
          </a:prstGeom>
          <a:ln w="25400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09760" y="358444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0F6FC"/>
                </a:solidFill>
                <a:latin typeface="Segoe UI"/>
              </a:rPr>
              <a:t>Verifier /
Recruiter</a:t>
            </a:r>
          </a:p>
        </p:txBody>
      </p:sp>
      <p:sp>
        <p:nvSpPr>
          <p:cNvPr id="23" name="Oval 22"/>
          <p:cNvSpPr/>
          <p:nvPr/>
        </p:nvSpPr>
        <p:spPr>
          <a:xfrm>
            <a:off x="3657600" y="224028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0752" y="224028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Connect
Wallet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320040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0752" y="320040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Issue
Certificate</a:t>
            </a:r>
          </a:p>
        </p:txBody>
      </p:sp>
      <p:sp>
        <p:nvSpPr>
          <p:cNvPr id="27" name="Oval 26"/>
          <p:cNvSpPr/>
          <p:nvPr/>
        </p:nvSpPr>
        <p:spPr>
          <a:xfrm>
            <a:off x="3657600" y="416052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416052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Store Record
On-Chain</a:t>
            </a:r>
          </a:p>
        </p:txBody>
      </p:sp>
      <p:sp>
        <p:nvSpPr>
          <p:cNvPr id="29" name="Oval 28"/>
          <p:cNvSpPr/>
          <p:nvPr/>
        </p:nvSpPr>
        <p:spPr>
          <a:xfrm>
            <a:off x="6172200" y="224028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24028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Enter
Register No</a:t>
            </a:r>
          </a:p>
        </p:txBody>
      </p:sp>
      <p:sp>
        <p:nvSpPr>
          <p:cNvPr id="31" name="Oval 30"/>
          <p:cNvSpPr/>
          <p:nvPr/>
        </p:nvSpPr>
        <p:spPr>
          <a:xfrm>
            <a:off x="6172200" y="320040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320040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Verify
Certificate</a:t>
            </a:r>
          </a:p>
        </p:txBody>
      </p:sp>
      <p:sp>
        <p:nvSpPr>
          <p:cNvPr id="33" name="Oval 32"/>
          <p:cNvSpPr/>
          <p:nvPr/>
        </p:nvSpPr>
        <p:spPr>
          <a:xfrm>
            <a:off x="6172200" y="416052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352" y="416052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View
Result</a:t>
            </a:r>
          </a:p>
        </p:txBody>
      </p:sp>
      <p:sp>
        <p:nvSpPr>
          <p:cNvPr id="35" name="Oval 34"/>
          <p:cNvSpPr/>
          <p:nvPr/>
        </p:nvSpPr>
        <p:spPr>
          <a:xfrm>
            <a:off x="4892040" y="5074920"/>
            <a:ext cx="1828800" cy="777240"/>
          </a:xfrm>
          <a:prstGeom prst="ellipse">
            <a:avLst/>
          </a:prstGeom>
          <a:solidFill>
            <a:srgbClr val="161B22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5192" y="5074920"/>
            <a:ext cx="168249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F6FC"/>
                </a:solidFill>
                <a:latin typeface="Segoe UI"/>
              </a:rPr>
              <a:t>Query
Blockchain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828800" y="2606040"/>
            <a:ext cx="1828800" cy="228600"/>
          </a:xfrm>
          <a:prstGeom prst="line">
            <a:avLst/>
          </a:prstGeom>
          <a:ln w="15875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828800" y="3017520"/>
            <a:ext cx="1828800" cy="548640"/>
          </a:xfrm>
          <a:prstGeom prst="line">
            <a:avLst/>
          </a:prstGeom>
          <a:ln w="15875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828800" y="3200400"/>
            <a:ext cx="1828800" cy="1325880"/>
          </a:xfrm>
          <a:prstGeom prst="line">
            <a:avLst/>
          </a:prstGeom>
          <a:ln w="15875">
            <a:solidFill>
              <a:srgbClr val="BC8C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8001000" y="2606040"/>
            <a:ext cx="2148840" cy="228600"/>
          </a:xfrm>
          <a:prstGeom prst="line">
            <a:avLst/>
          </a:prstGeom>
          <a:ln w="15875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8001000" y="3017520"/>
            <a:ext cx="2148840" cy="548640"/>
          </a:xfrm>
          <a:prstGeom prst="line">
            <a:avLst/>
          </a:prstGeom>
          <a:ln w="15875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01000" y="3200400"/>
            <a:ext cx="2148840" cy="1325880"/>
          </a:xfrm>
          <a:prstGeom prst="line">
            <a:avLst/>
          </a:prstGeom>
          <a:ln w="15875">
            <a:solidFill>
              <a:srgbClr val="3FB9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572000" y="4526280"/>
            <a:ext cx="822960" cy="548640"/>
          </a:xfrm>
          <a:prstGeom prst="line">
            <a:avLst/>
          </a:prstGeom>
          <a:ln w="15875">
            <a:solidFill>
              <a:srgbClr val="F78A3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035040" y="4023360"/>
            <a:ext cx="822960" cy="1051560"/>
          </a:xfrm>
          <a:prstGeom prst="line">
            <a:avLst/>
          </a:prstGeom>
          <a:ln w="15875">
            <a:solidFill>
              <a:srgbClr val="F78A3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315200" y="46177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F78A3B"/>
                </a:solidFill>
                <a:latin typeface="Segoe UI"/>
              </a:rPr>
              <a:t>«include»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2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Class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12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Segoe UI"/>
              </a:rPr>
              <a:t>Certificate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3291840" cy="813816"/>
          </a:xfrm>
          <a:prstGeom prst="rect">
            <a:avLst/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258568"/>
            <a:ext cx="3072384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studentName: string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courseName: string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ipfsHash: string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08376"/>
            <a:ext cx="3291840" cy="356616"/>
          </a:xfrm>
          <a:prstGeom prst="rect">
            <a:avLst/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072384"/>
            <a:ext cx="3072384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FB950"/>
                </a:solidFill>
                <a:latin typeface="Consolas"/>
              </a:rPr>
              <a:t>(struct type)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1783080"/>
            <a:ext cx="3657600" cy="36576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828800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Segoe UI"/>
              </a:rPr>
              <a:t>AcademicCertificates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148840"/>
            <a:ext cx="3657600" cy="813816"/>
          </a:xfrm>
          <a:prstGeom prst="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1456" y="2212848"/>
            <a:ext cx="3438144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university: address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nextId: uint256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certificates: mapping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962656"/>
            <a:ext cx="3657600" cy="585216"/>
          </a:xfrm>
          <a:prstGeom prst="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91456" y="3026664"/>
            <a:ext cx="3438144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FB950"/>
                </a:solidFill>
                <a:latin typeface="Consolas"/>
              </a:rPr>
              <a:t>+ issueDegree()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FB950"/>
                </a:solidFill>
                <a:latin typeface="Consolas"/>
              </a:rPr>
              <a:t>+ getCertificate()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828800"/>
            <a:ext cx="2651760" cy="365760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0" y="1874520"/>
            <a:ext cx="2651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1117"/>
                </a:solidFill>
                <a:latin typeface="Segoe UI"/>
              </a:rPr>
              <a:t>Web3Frontend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2194560"/>
            <a:ext cx="2651760" cy="813816"/>
          </a:xfrm>
          <a:prstGeom prst="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258568"/>
            <a:ext cx="2432304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provider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contract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F0F6FC"/>
                </a:solidFill>
                <a:latin typeface="Consolas"/>
              </a:rPr>
              <a:t>- abi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3008376"/>
            <a:ext cx="2651760" cy="585216"/>
          </a:xfrm>
          <a:prstGeom prst="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072384"/>
            <a:ext cx="2432304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FB950"/>
                </a:solidFill>
                <a:latin typeface="Consolas"/>
              </a:rPr>
              <a:t>+ verify()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FB950"/>
                </a:solidFill>
                <a:latin typeface="Consolas"/>
              </a:rPr>
              <a:t>+ connect()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931920" y="2331720"/>
            <a:ext cx="731520" cy="0"/>
          </a:xfrm>
          <a:prstGeom prst="line">
            <a:avLst/>
          </a:prstGeom>
          <a:ln w="19050">
            <a:solidFill>
              <a:srgbClr val="8B949E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0" y="196596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Segoe UI"/>
              </a:rPr>
              <a:t>1   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23957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contains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1040" y="2331720"/>
            <a:ext cx="640080" cy="0"/>
          </a:xfrm>
          <a:prstGeom prst="line">
            <a:avLst/>
          </a:prstGeom>
          <a:ln w="19050">
            <a:solidFill>
              <a:srgbClr val="8B94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83879" y="23957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calls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1206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The AcademicCertificates contract owns a mapping of Certificate structs keyed by Register Number. The Web3Frontend class invokes the contract's public methods through Ethers.js.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3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13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830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  <a:latin typeface="Segoe UI"/>
              </a:rPr>
              <a:t>User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63040" y="2240280"/>
            <a:ext cx="0" cy="3703320"/>
          </a:xfrm>
          <a:prstGeom prst="line">
            <a:avLst/>
          </a:prstGeom>
          <a:ln w="15875">
            <a:solidFill>
              <a:srgbClr val="58A6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7830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7830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  <a:latin typeface="Segoe UI"/>
              </a:rPr>
              <a:t>Frontend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2240280"/>
            <a:ext cx="0" cy="3703320"/>
          </a:xfrm>
          <a:prstGeom prst="line">
            <a:avLst/>
          </a:prstGeom>
          <a:ln w="15875">
            <a:solidFill>
              <a:srgbClr val="3FB95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12664" y="17830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664" y="17830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  <a:latin typeface="Segoe UI"/>
              </a:rPr>
              <a:t>Ethers.js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89904" y="2240280"/>
            <a:ext cx="0" cy="3703320"/>
          </a:xfrm>
          <a:prstGeom prst="line">
            <a:avLst/>
          </a:prstGeom>
          <a:ln w="15875">
            <a:solidFill>
              <a:srgbClr val="BC8CF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52360" y="17830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7830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78A3B"/>
                </a:solidFill>
                <a:latin typeface="Segoe UI"/>
              </a:rPr>
              <a:t>MetaMask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2240280"/>
            <a:ext cx="0" cy="3703320"/>
          </a:xfrm>
          <a:prstGeom prst="line">
            <a:avLst/>
          </a:prstGeom>
          <a:ln w="15875">
            <a:solidFill>
              <a:srgbClr val="F78A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738360" y="17830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1783080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  <a:latin typeface="Segoe UI"/>
              </a:rPr>
              <a:t>SmartContract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515600" y="2240280"/>
            <a:ext cx="0" cy="3703320"/>
          </a:xfrm>
          <a:prstGeom prst="line">
            <a:avLst/>
          </a:prstGeom>
          <a:ln w="15875">
            <a:solidFill>
              <a:srgbClr val="F8514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463040" y="2423160"/>
            <a:ext cx="2194560" cy="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08760" y="214884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1: enter Register 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57600" y="2926080"/>
            <a:ext cx="2432304" cy="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703320" y="2651760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2: getCertificate(regNo)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89904" y="3429000"/>
            <a:ext cx="2139696" cy="0"/>
          </a:xfrm>
          <a:prstGeom prst="line">
            <a:avLst/>
          </a:prstGeom>
          <a:ln w="19050">
            <a:solidFill>
              <a:srgbClr val="BC8C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35624" y="3154680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3: request signature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0" y="3931920"/>
            <a:ext cx="2286000" cy="0"/>
          </a:xfrm>
          <a:prstGeom prst="line">
            <a:avLst/>
          </a:prstGeom>
          <a:ln w="19050">
            <a:solidFill>
              <a:srgbClr val="F78A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75320" y="36576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4: send call to chain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089904" y="4434840"/>
            <a:ext cx="4425696" cy="0"/>
          </a:xfrm>
          <a:prstGeom prst="line">
            <a:avLst/>
          </a:prstGeom>
          <a:ln w="19050">
            <a:solidFill>
              <a:srgbClr val="F85149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135624" y="4160520"/>
            <a:ext cx="4425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5: return record data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3657600" y="4937760"/>
            <a:ext cx="2432304" cy="0"/>
          </a:xfrm>
          <a:prstGeom prst="line">
            <a:avLst/>
          </a:prstGeom>
          <a:ln w="19050">
            <a:solidFill>
              <a:srgbClr val="BC8C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03320" y="4663440"/>
            <a:ext cx="2432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6: parsed result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463040" y="5440680"/>
            <a:ext cx="2194560" cy="0"/>
          </a:xfrm>
          <a:prstGeom prst="line">
            <a:avLst/>
          </a:prstGeom>
          <a:ln w="19050">
            <a:solidFill>
              <a:srgbClr val="3FB95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508760" y="51663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0F6FC"/>
                </a:solidFill>
                <a:latin typeface="Segoe UI"/>
              </a:rPr>
              <a:t>7: display certificate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4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Activity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14 / 22</a:t>
            </a:r>
          </a:p>
        </p:txBody>
      </p:sp>
      <p:sp>
        <p:nvSpPr>
          <p:cNvPr id="9" name="Oval 8"/>
          <p:cNvSpPr/>
          <p:nvPr/>
        </p:nvSpPr>
        <p:spPr>
          <a:xfrm>
            <a:off x="3694176" y="1691640"/>
            <a:ext cx="292608" cy="292608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77440" y="214884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48840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Open UniVerify portal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28803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2880360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Enter Register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361188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3611880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0F6FC"/>
                </a:solidFill>
                <a:latin typeface="Segoe UI"/>
              </a:rPr>
              <a:t>Call getCertificate()</a:t>
            </a:r>
          </a:p>
        </p:txBody>
      </p:sp>
      <p:sp>
        <p:nvSpPr>
          <p:cNvPr id="16" name="Diamond 15"/>
          <p:cNvSpPr/>
          <p:nvPr/>
        </p:nvSpPr>
        <p:spPr>
          <a:xfrm>
            <a:off x="2971800" y="4434840"/>
            <a:ext cx="1737360" cy="868680"/>
          </a:xfrm>
          <a:prstGeom prst="diamond">
            <a:avLst/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443484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78A3B"/>
                </a:solidFill>
                <a:latin typeface="Segoe UI"/>
              </a:rPr>
              <a:t>Record
exists?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840480" y="1984248"/>
            <a:ext cx="0" cy="164592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2697480"/>
            <a:ext cx="0" cy="18288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840480" y="3429000"/>
            <a:ext cx="0" cy="18288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840480" y="4160520"/>
            <a:ext cx="0" cy="274320"/>
          </a:xfrm>
          <a:prstGeom prst="line">
            <a:avLst/>
          </a:prstGeom>
          <a:ln w="19050">
            <a:solidFill>
              <a:srgbClr val="BC8C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17920" y="44805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4480560"/>
            <a:ext cx="29260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FB950"/>
                </a:solidFill>
                <a:latin typeface="Segoe UI"/>
              </a:rPr>
              <a:t>Display authentic record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4709160" y="4754880"/>
            <a:ext cx="1508760" cy="118872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54880" y="44805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FB950"/>
                </a:solidFill>
                <a:latin typeface="Segoe UI"/>
              </a:rPr>
              <a:t>Yes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63040" y="4480560"/>
            <a:ext cx="2743200" cy="5486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448056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85149"/>
                </a:solidFill>
                <a:latin typeface="Segoe UI"/>
              </a:rPr>
              <a:t>Show 'Verification Failed'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71800" y="4754880"/>
            <a:ext cx="1234440" cy="118872"/>
          </a:xfrm>
          <a:prstGeom prst="line">
            <a:avLst/>
          </a:prstGeom>
          <a:ln w="19050">
            <a:solidFill>
              <a:srgbClr val="F8514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737360" y="44805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85149"/>
                </a:solidFill>
                <a:latin typeface="Segoe UI"/>
              </a:rPr>
              <a:t>No</a:t>
            </a:r>
          </a:p>
        </p:txBody>
      </p:sp>
      <p:sp>
        <p:nvSpPr>
          <p:cNvPr id="30" name="Oval 29"/>
          <p:cNvSpPr/>
          <p:nvPr/>
        </p:nvSpPr>
        <p:spPr>
          <a:xfrm>
            <a:off x="3657600" y="5760720"/>
            <a:ext cx="365760" cy="365760"/>
          </a:xfrm>
          <a:prstGeom prst="ellipse">
            <a:avLst/>
          </a:prstGeom>
          <a:noFill/>
          <a:ln w="25400">
            <a:solidFill>
              <a:srgbClr val="F0F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39896" y="5843016"/>
            <a:ext cx="201168" cy="201168"/>
          </a:xfrm>
          <a:prstGeom prst="ellipse">
            <a:avLst/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3886200" y="5029200"/>
            <a:ext cx="3794760" cy="73152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834640" y="5029200"/>
            <a:ext cx="960120" cy="731520"/>
          </a:xfrm>
          <a:prstGeom prst="line">
            <a:avLst/>
          </a:prstGeom>
          <a:ln w="19050">
            <a:solidFill>
              <a:srgbClr val="F8514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5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State Chart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15 / 22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291840"/>
            <a:ext cx="310896" cy="310896"/>
          </a:xfrm>
          <a:prstGeom prst="ellipse">
            <a:avLst/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54480" y="3154680"/>
            <a:ext cx="1691640" cy="822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1691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58A6FF"/>
                </a:solidFill>
                <a:latin typeface="Segoe UI"/>
              </a:rPr>
              <a:t>Idle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154680"/>
            <a:ext cx="1691640" cy="822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3154680"/>
            <a:ext cx="1691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C8CFF"/>
                </a:solidFill>
                <a:latin typeface="Segoe UI"/>
              </a:rPr>
              <a:t>Wallet
Connected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154680"/>
            <a:ext cx="1691640" cy="822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154680"/>
            <a:ext cx="1691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78A3B"/>
                </a:solidFill>
                <a:latin typeface="Segoe UI"/>
              </a:rPr>
              <a:t>Querying
Blockchain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2286000"/>
            <a:ext cx="1691640" cy="822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286000"/>
            <a:ext cx="1691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FB950"/>
                </a:solidFill>
                <a:latin typeface="Segoe UI"/>
              </a:rPr>
              <a:t>Result
Displayed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4023360"/>
            <a:ext cx="1691640" cy="822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023360"/>
            <a:ext cx="16916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85149"/>
                </a:solidFill>
                <a:latin typeface="Segoe UI"/>
              </a:rPr>
              <a:t>Error
State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33856" y="3447288"/>
            <a:ext cx="420624" cy="73152"/>
          </a:xfrm>
          <a:prstGeom prst="line">
            <a:avLst/>
          </a:prstGeom>
          <a:ln w="19050">
            <a:solidFill>
              <a:srgbClr val="F0F6F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46120" y="3566160"/>
            <a:ext cx="274320" cy="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8960" y="32004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connect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12080" y="3566160"/>
            <a:ext cx="274320" cy="0"/>
          </a:xfrm>
          <a:prstGeom prst="line">
            <a:avLst/>
          </a:prstGeom>
          <a:ln w="19050">
            <a:solidFill>
              <a:srgbClr val="BC8C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0" y="32004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verify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178040" y="2697480"/>
            <a:ext cx="274320" cy="685800"/>
          </a:xfrm>
          <a:prstGeom prst="line">
            <a:avLst/>
          </a:prstGeom>
          <a:ln w="19050">
            <a:solidFill>
              <a:srgbClr val="F78A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903720" y="2743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3FB950"/>
                </a:solidFill>
                <a:latin typeface="Segoe UI"/>
              </a:rPr>
              <a:t>found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78040" y="3749039"/>
            <a:ext cx="274320" cy="685801"/>
          </a:xfrm>
          <a:prstGeom prst="line">
            <a:avLst/>
          </a:prstGeom>
          <a:ln w="19050">
            <a:solidFill>
              <a:srgbClr val="F78A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03720" y="42062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F85149"/>
                </a:solidFill>
                <a:latin typeface="Segoe UI"/>
              </a:rPr>
              <a:t>not found</a:t>
            </a:r>
          </a:p>
        </p:txBody>
      </p:sp>
      <p:sp>
        <p:nvSpPr>
          <p:cNvPr id="29" name="Oval 28"/>
          <p:cNvSpPr/>
          <p:nvPr/>
        </p:nvSpPr>
        <p:spPr>
          <a:xfrm>
            <a:off x="10424160" y="3383280"/>
            <a:ext cx="365760" cy="365760"/>
          </a:xfrm>
          <a:prstGeom prst="ellipse">
            <a:avLst/>
          </a:prstGeom>
          <a:noFill/>
          <a:ln w="25400">
            <a:solidFill>
              <a:srgbClr val="F0F6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06456" y="3465576"/>
            <a:ext cx="201168" cy="201168"/>
          </a:xfrm>
          <a:prstGeom prst="ellipse">
            <a:avLst/>
          </a:prstGeom>
          <a:solidFill>
            <a:srgbClr val="F0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9144000" y="2697480"/>
            <a:ext cx="1325880" cy="73152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144000" y="3703320"/>
            <a:ext cx="1325880" cy="731520"/>
          </a:xfrm>
          <a:prstGeom prst="line">
            <a:avLst/>
          </a:prstGeom>
          <a:ln w="19050">
            <a:solidFill>
              <a:srgbClr val="F8514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6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Component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16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6656" y="235915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6656" y="265176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3408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8A6FF"/>
                </a:solidFill>
                <a:latin typeface="Segoe UI"/>
              </a:rPr>
              <a:t>«component»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3347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UI 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809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index.html / CSS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19456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2736" y="235915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2736" y="265176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3408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FB950"/>
                </a:solidFill>
                <a:latin typeface="Segoe UI"/>
              </a:rPr>
              <a:t>«component»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63347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Web3 Bridge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9809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Ethers.js (script.js)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19456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28816" y="235915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28816" y="265176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408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F78A3B"/>
                </a:solidFill>
                <a:latin typeface="Segoe UI"/>
              </a:rPr>
              <a:t>«component»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63347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Wallet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9809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MetaMask provider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26880" y="219456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72016" y="235915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72016" y="265176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3408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BC8CFF"/>
                </a:solidFill>
                <a:latin typeface="Segoe UI"/>
              </a:rPr>
              <a:t>«component»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63347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Smart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298094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AcademicCertificates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0" y="429768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02736" y="446227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02736" y="475488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31920" y="444398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58A6FF"/>
                </a:solidFill>
                <a:latin typeface="Segoe UI"/>
              </a:rPr>
              <a:t>«component»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473659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Ethereum Node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0" y="50840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Sepolia Testnet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0" y="4297680"/>
            <a:ext cx="2286000" cy="11887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28816" y="4462272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28816" y="4754880"/>
            <a:ext cx="256032" cy="164592"/>
          </a:xfrm>
          <a:prstGeom prst="rect">
            <a:avLst/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0" y="444398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3FB950"/>
                </a:solidFill>
                <a:latin typeface="Segoe UI"/>
              </a:rPr>
              <a:t>«component»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736592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IPFS Store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084064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8B949E"/>
                </a:solidFill>
                <a:latin typeface="Segoe UI"/>
              </a:rPr>
              <a:t>Certificate file hash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017520" y="2788920"/>
            <a:ext cx="640080" cy="0"/>
          </a:xfrm>
          <a:prstGeom prst="line">
            <a:avLst/>
          </a:prstGeom>
          <a:ln w="19050">
            <a:solidFill>
              <a:srgbClr val="58A6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943600" y="2788920"/>
            <a:ext cx="640080" cy="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869680" y="2788920"/>
            <a:ext cx="457200" cy="0"/>
          </a:xfrm>
          <a:prstGeom prst="line">
            <a:avLst/>
          </a:prstGeom>
          <a:ln w="19050">
            <a:solidFill>
              <a:srgbClr val="F78A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726679" y="3383280"/>
            <a:ext cx="2743201" cy="1188720"/>
          </a:xfrm>
          <a:prstGeom prst="line">
            <a:avLst/>
          </a:prstGeom>
          <a:ln w="19050">
            <a:solidFill>
              <a:srgbClr val="BC8C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800600" y="3383280"/>
            <a:ext cx="0" cy="91440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726679" y="3383280"/>
            <a:ext cx="0" cy="914400"/>
          </a:xfrm>
          <a:prstGeom prst="line">
            <a:avLst/>
          </a:prstGeom>
          <a:ln w="19050">
            <a:solidFill>
              <a:srgbClr val="3FB9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8B949E"/>
                </a:solidFill>
                <a:latin typeface="Segoe UI"/>
              </a:rPr>
              <a:t>Components communicate through provided/required interfaces — the Web3 Bridge connects the UI to the wallet, contract, blockchain node and IPFS store.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DIAGRAM 7 OF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UML — Deployment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17 / 22</a:t>
            </a:r>
          </a:p>
        </p:txBody>
      </p:sp>
      <p:sp>
        <p:nvSpPr>
          <p:cNvPr id="9" name="Cube 8"/>
          <p:cNvSpPr/>
          <p:nvPr/>
        </p:nvSpPr>
        <p:spPr>
          <a:xfrm>
            <a:off x="731520" y="1920240"/>
            <a:ext cx="3383280" cy="3291840"/>
          </a:xfrm>
          <a:prstGeom prst="cube">
            <a:avLst/>
          </a:prstGeom>
          <a:solidFill>
            <a:srgbClr val="161B22"/>
          </a:solidFill>
          <a:ln w="2222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031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58A6FF"/>
                </a:solidFill>
                <a:latin typeface="Segoe UI"/>
              </a:rPr>
              <a:t>«device»</a:t>
            </a:r>
          </a:p>
          <a:p>
            <a:pPr algn="l">
              <a:spcBef>
                <a:spcPts val="100"/>
              </a:spcBef>
            </a:pPr>
            <a:r>
              <a:rPr sz="1400" b="1" i="0">
                <a:solidFill>
                  <a:srgbClr val="F0F6FC"/>
                </a:solidFill>
                <a:latin typeface="Segoe UI"/>
              </a:rPr>
              <a:t>Client Browser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788920"/>
            <a:ext cx="269748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UniVerify Web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3429000"/>
            <a:ext cx="269748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290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MetaMask Extension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4069080"/>
            <a:ext cx="269748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06908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Ethers.js Library</a:t>
            </a:r>
          </a:p>
        </p:txBody>
      </p:sp>
      <p:sp>
        <p:nvSpPr>
          <p:cNvPr id="17" name="Cube 16"/>
          <p:cNvSpPr/>
          <p:nvPr/>
        </p:nvSpPr>
        <p:spPr>
          <a:xfrm>
            <a:off x="4846320" y="1920240"/>
            <a:ext cx="3383280" cy="3291840"/>
          </a:xfrm>
          <a:prstGeom prst="cube">
            <a:avLst/>
          </a:prstGeom>
          <a:solidFill>
            <a:srgbClr val="161B22"/>
          </a:solidFill>
          <a:ln w="2222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1031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BC8CFF"/>
                </a:solidFill>
                <a:latin typeface="Segoe UI"/>
              </a:rPr>
              <a:t>«device»</a:t>
            </a:r>
          </a:p>
          <a:p>
            <a:pPr algn="l">
              <a:spcBef>
                <a:spcPts val="100"/>
              </a:spcBef>
            </a:pPr>
            <a:r>
              <a:rPr sz="1400" b="1" i="0">
                <a:solidFill>
                  <a:srgbClr val="F0F6FC"/>
                </a:solidFill>
                <a:latin typeface="Segoe UI"/>
              </a:rPr>
              <a:t>Ethereum Sepolia Node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66360" y="2788920"/>
            <a:ext cx="269748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278892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AcademicCertificates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6360" y="3429000"/>
            <a:ext cx="269748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3429000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Distributed Ledger</a:t>
            </a:r>
          </a:p>
        </p:txBody>
      </p:sp>
      <p:sp>
        <p:nvSpPr>
          <p:cNvPr id="23" name="Cube 22"/>
          <p:cNvSpPr/>
          <p:nvPr/>
        </p:nvSpPr>
        <p:spPr>
          <a:xfrm>
            <a:off x="8961120" y="1920240"/>
            <a:ext cx="2606040" cy="3291840"/>
          </a:xfrm>
          <a:prstGeom prst="cube">
            <a:avLst/>
          </a:prstGeom>
          <a:solidFill>
            <a:srgbClr val="161B22"/>
          </a:solidFill>
          <a:ln w="2222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10312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FB950"/>
                </a:solidFill>
                <a:latin typeface="Segoe UI"/>
              </a:rPr>
              <a:t>«device»</a:t>
            </a:r>
          </a:p>
          <a:p>
            <a:pPr algn="l">
              <a:spcBef>
                <a:spcPts val="100"/>
              </a:spcBef>
            </a:pPr>
            <a:r>
              <a:rPr sz="1400" b="1" i="0">
                <a:solidFill>
                  <a:srgbClr val="F0F6FC"/>
                </a:solidFill>
                <a:latin typeface="Segoe UI"/>
              </a:rPr>
              <a:t>IPFS Network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60" y="2788920"/>
            <a:ext cx="1920240" cy="50292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1160" y="2788920"/>
            <a:ext cx="19202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0F6FC"/>
                </a:solidFill>
                <a:latin typeface="Segoe UI"/>
              </a:rPr>
              <a:t>Certificate Files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14800" y="3291840"/>
            <a:ext cx="914400" cy="0"/>
          </a:xfrm>
          <a:prstGeom prst="line">
            <a:avLst/>
          </a:prstGeom>
          <a:ln w="22225">
            <a:solidFill>
              <a:srgbClr val="F0F6F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931920" y="29260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JSON-RPC / HTTPS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3291840"/>
            <a:ext cx="914400" cy="0"/>
          </a:xfrm>
          <a:prstGeom prst="line">
            <a:avLst/>
          </a:prstGeom>
          <a:ln w="22225">
            <a:solidFill>
              <a:srgbClr val="F0F6FC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92440" y="29260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B949E"/>
                </a:solidFill>
                <a:latin typeface="Segoe UI"/>
              </a:rPr>
              <a:t>hash link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CORE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Algorithm Used in Proposed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18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C8CFF"/>
                </a:solidFill>
                <a:latin typeface="Segoe UI"/>
              </a:rPr>
              <a:t>A.  Certificate Issuance (Admin)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Start  </a:t>
            </a:r>
            <a:r>
              <a:rPr sz="1250">
                <a:solidFill>
                  <a:srgbClr val="8B949E"/>
                </a:solidFill>
                <a:latin typeface="Segoe UI"/>
              </a:rPr>
              <a:t>admin connects MetaMask wallet.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Input  </a:t>
            </a:r>
            <a:r>
              <a:rPr sz="1250">
                <a:solidFill>
                  <a:srgbClr val="8B949E"/>
                </a:solidFill>
                <a:latin typeface="Segoe UI"/>
              </a:rPr>
              <a:t>Register No, Name, Course, IPFS hash.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Check  </a:t>
            </a:r>
            <a:r>
              <a:rPr sz="1250">
                <a:solidFill>
                  <a:srgbClr val="8B949E"/>
                </a:solidFill>
                <a:latin typeface="Segoe UI"/>
              </a:rPr>
              <a:t>require(msg.sender == university).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If not owner  </a:t>
            </a:r>
            <a:r>
              <a:rPr sz="1250">
                <a:solidFill>
                  <a:srgbClr val="8B949E"/>
                </a:solidFill>
                <a:latin typeface="Segoe UI"/>
              </a:rPr>
              <a:t>revert transaction, stop.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Else  </a:t>
            </a:r>
            <a:r>
              <a:rPr sz="1250">
                <a:solidFill>
                  <a:srgbClr val="8B949E"/>
                </a:solidFill>
                <a:latin typeface="Segoe UI"/>
              </a:rPr>
              <a:t>certificates[regNo] = Certificate(...).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Commit  </a:t>
            </a:r>
            <a:r>
              <a:rPr sz="1250">
                <a:solidFill>
                  <a:srgbClr val="8B949E"/>
                </a:solidFill>
                <a:latin typeface="Segoe UI"/>
              </a:rPr>
              <a:t>transaction mined &amp; stored on-chain.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BC8CFF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End  </a:t>
            </a:r>
            <a:r>
              <a:rPr sz="1250">
                <a:solidFill>
                  <a:srgbClr val="8B949E"/>
                </a:solidFill>
                <a:latin typeface="Segoe UI"/>
              </a:rPr>
              <a:t>record is permanent and immutable.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FB950"/>
                </a:solidFill>
                <a:latin typeface="Segoe UI"/>
              </a:rPr>
              <a:t>B.  Certificate Verification (Anyone)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Start  </a:t>
            </a:r>
            <a:r>
              <a:rPr sz="1250">
                <a:solidFill>
                  <a:srgbClr val="F0F6FC"/>
                </a:solidFill>
                <a:latin typeface="Segoe UI"/>
              </a:rPr>
              <a:t>user enters Register Number.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Call  </a:t>
            </a:r>
            <a:r>
              <a:rPr sz="1250">
                <a:solidFill>
                  <a:srgbClr val="F0F6FC"/>
                </a:solidFill>
                <a:latin typeface="Segoe UI"/>
              </a:rPr>
              <a:t>contract.getCertificate(regNo) via Ethers.js.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Lookup  </a:t>
            </a:r>
            <a:r>
              <a:rPr sz="1250">
                <a:solidFill>
                  <a:srgbClr val="F0F6FC"/>
                </a:solidFill>
                <a:latin typeface="Segoe UI"/>
              </a:rPr>
              <a:t>mapping returns record in O(1) time.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If record empty  </a:t>
            </a:r>
            <a:r>
              <a:rPr sz="1250">
                <a:solidFill>
                  <a:srgbClr val="F0F6FC"/>
                </a:solidFill>
                <a:latin typeface="Segoe UI"/>
              </a:rPr>
              <a:t>call reverts → 'Verification Failed'.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Else  </a:t>
            </a:r>
            <a:r>
              <a:rPr sz="1250">
                <a:solidFill>
                  <a:srgbClr val="F0F6FC"/>
                </a:solidFill>
                <a:latin typeface="Segoe UI"/>
              </a:rPr>
              <a:t>receive (name, course, hash).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Render  </a:t>
            </a:r>
            <a:r>
              <a:rPr sz="1250">
                <a:solidFill>
                  <a:srgbClr val="F0F6FC"/>
                </a:solidFill>
                <a:latin typeface="Segoe UI"/>
              </a:rPr>
              <a:t>display authentic record to user.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250" b="1">
                <a:solidFill>
                  <a:srgbClr val="3FB950"/>
                </a:solidFill>
                <a:latin typeface="Segoe UI"/>
              </a:rPr>
              <a:t>→  </a:t>
            </a:r>
            <a:r>
              <a:rPr sz="1250" b="1">
                <a:solidFill>
                  <a:srgbClr val="F0F6FC"/>
                </a:solidFill>
                <a:latin typeface="Segoe UI"/>
              </a:rPr>
              <a:t>End  </a:t>
            </a:r>
            <a:r>
              <a:rPr sz="1250">
                <a:solidFill>
                  <a:srgbClr val="F0F6FC"/>
                </a:solidFill>
                <a:latin typeface="Segoe UI"/>
              </a:rPr>
              <a:t>verification complete in seconds.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Output Screenshots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19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3474720" cy="41605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58A6FF"/>
                </a:solidFill>
                <a:latin typeface="Segoe UI"/>
              </a:rPr>
              <a:t>UniVerify V2.0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Segoe UI"/>
              </a:rPr>
              <a:t>Successful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88036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944368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F6FC"/>
                </a:solidFill>
                <a:latin typeface="Consolas"/>
              </a:rPr>
              <a:t>231061101493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42900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493008"/>
            <a:ext cx="2834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0F6FC"/>
                </a:solidFill>
                <a:latin typeface="Segoe UI"/>
              </a:rPr>
              <a:t>Verify on Blockchain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023360"/>
            <a:ext cx="2834640" cy="1691640"/>
          </a:xfrm>
          <a:prstGeom prst="roundRect">
            <a:avLst>
              <a:gd name="adj" fmla="val 5000"/>
            </a:avLst>
          </a:prstGeom>
          <a:solidFill>
            <a:srgbClr val="102616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160520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3FB950"/>
                </a:solidFill>
                <a:latin typeface="Segoe UI"/>
              </a:rPr>
              <a:t>✅ AUTHENTIC RECORD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0F6FC"/>
                </a:solidFill>
                <a:latin typeface="Segoe UI"/>
              </a:rPr>
              <a:t>Student: Aarav Sharma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0F6FC"/>
                </a:solidFill>
                <a:latin typeface="Segoe UI"/>
              </a:rPr>
              <a:t>Course: B.Tech CSE</a:t>
            </a:r>
          </a:p>
          <a:p>
            <a:pPr algn="l"/>
            <a:r>
              <a:rPr sz="1050" b="0" i="0">
                <a:solidFill>
                  <a:srgbClr val="8B949E"/>
                </a:solidFill>
                <a:latin typeface="Consolas"/>
              </a:rPr>
              <a:t>Hash: Qm7x...a91f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1783080"/>
            <a:ext cx="3474720" cy="41605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1688" y="2011680"/>
            <a:ext cx="3474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58A6FF"/>
                </a:solidFill>
                <a:latin typeface="Segoe UI"/>
              </a:rPr>
              <a:t>UniVerify V2.0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42316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  <a:latin typeface="Segoe UI"/>
              </a:rPr>
              <a:t>Invalid / Forged Record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81728" y="288036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18888" y="2944368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F6FC"/>
                </a:solidFill>
                <a:latin typeface="Consolas"/>
              </a:rPr>
              <a:t>000000000000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342900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8" y="3493008"/>
            <a:ext cx="2834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0F6FC"/>
                </a:solidFill>
                <a:latin typeface="Segoe UI"/>
              </a:rPr>
              <a:t>Verify on Blockchain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1728" y="4023360"/>
            <a:ext cx="2834640" cy="1691640"/>
          </a:xfrm>
          <a:prstGeom prst="roundRect">
            <a:avLst>
              <a:gd name="adj" fmla="val 5000"/>
            </a:avLst>
          </a:prstGeom>
          <a:solidFill>
            <a:srgbClr val="2B121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18888" y="4160520"/>
            <a:ext cx="2606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85149"/>
                </a:solidFill>
                <a:latin typeface="Segoe UI"/>
              </a:rPr>
              <a:t>❌ VERIFICATION FAILED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F0F6FC"/>
                </a:solidFill>
                <a:latin typeface="Segoe UI"/>
              </a:rPr>
              <a:t>No record found for this</a:t>
            </a:r>
          </a:p>
          <a:p>
            <a:pPr algn="l"/>
            <a:r>
              <a:rPr sz="1100" b="0" i="0">
                <a:solidFill>
                  <a:srgbClr val="F0F6FC"/>
                </a:solidFill>
                <a:latin typeface="Segoe UI"/>
              </a:rPr>
              <a:t>Register Number on-chain.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1783080"/>
            <a:ext cx="3566160" cy="416052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79" y="20116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  <a:latin typeface="Segoe UI"/>
              </a:rPr>
              <a:t>Demonstrated 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2514600"/>
            <a:ext cx="3154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200">
                <a:solidFill>
                  <a:srgbClr val="F0F6FC"/>
                </a:solidFill>
                <a:latin typeface="Segoe UI"/>
              </a:rPr>
              <a:t>Contract deployed on Sepolia via Remix 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200">
                <a:solidFill>
                  <a:srgbClr val="F0F6FC"/>
                </a:solidFill>
                <a:latin typeface="Segoe UI"/>
              </a:rPr>
              <a:t>Certificate issued from university wallet.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200">
                <a:solidFill>
                  <a:srgbClr val="F0F6FC"/>
                </a:solidFill>
                <a:latin typeface="Segoe UI"/>
              </a:rPr>
              <a:t>Valid Reg No returns authentic record.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200">
                <a:solidFill>
                  <a:srgbClr val="F0F6FC"/>
                </a:solidFill>
                <a:latin typeface="Segoe UI"/>
              </a:rPr>
              <a:t>Invalid Reg No shows clear failure message.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200">
                <a:solidFill>
                  <a:srgbClr val="F0F6FC"/>
                </a:solidFill>
                <a:latin typeface="Segoe UI"/>
              </a:rPr>
              <a:t>Records confirmed tamper-proof on-chain.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989320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B949E"/>
                </a:solidFill>
                <a:latin typeface="Segoe UI"/>
              </a:rPr>
              <a:t>Note: replace these mockups with actual Remix / MetaMask / portal screenshots.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EXISTING SYSTEM VS. PROPOSED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Comparative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20 / 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737360"/>
          <a:ext cx="75895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595360" y="1783080"/>
            <a:ext cx="2926080" cy="42062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3960" y="201168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FB950"/>
                </a:solidFill>
                <a:latin typeface="Segoe UI"/>
              </a:rP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14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200">
                <a:solidFill>
                  <a:srgbClr val="F0F6FC"/>
                </a:solidFill>
                <a:latin typeface="Segoe UI"/>
              </a:rPr>
              <a:t>Far higher security &amp; tamper-resistance.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200">
                <a:solidFill>
                  <a:srgbClr val="F0F6FC"/>
                </a:solidFill>
                <a:latin typeface="Segoe UI"/>
              </a:rPr>
              <a:t>Verification in seconds, not days.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200">
                <a:solidFill>
                  <a:srgbClr val="F0F6FC"/>
                </a:solidFill>
                <a:latin typeface="Segoe UI"/>
              </a:rPr>
              <a:t>Fully transparent &amp; publicly auditable.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200">
                <a:solidFill>
                  <a:srgbClr val="F0F6FC"/>
                </a:solidFill>
                <a:latin typeface="Segoe UI"/>
              </a:rPr>
              <a:t>Globally accessible, no middlemen.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200">
                <a:solidFill>
                  <a:srgbClr val="F0F6FC"/>
                </a:solidFill>
                <a:latin typeface="Segoe UI"/>
              </a:rPr>
              <a:t>Trust shifts from people to cryptography.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Future Enhancement &amp;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21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Future Enhancements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4937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Multi-institution role-based access control.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Full IPFS / decentralized document storage.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QR-code based instant mobile verification.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NFT / soulbound-token based degrees.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Deployment on Ethereum / Polygon mainnet.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▸  </a:t>
            </a:r>
            <a:r>
              <a:rPr sz="1350">
                <a:solidFill>
                  <a:srgbClr val="F0F6FC"/>
                </a:solidFill>
                <a:latin typeface="Segoe UI"/>
              </a:rPr>
              <a:t>Bulk issuance &amp; analytics dashboard.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349240" cy="429768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58A6FF"/>
                </a:solidFill>
                <a:latin typeface="Segoe UI"/>
              </a:rPr>
              <a:t>Conclusion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400" b="1" i="0">
                <a:solidFill>
                  <a:srgbClr val="F0F6FC"/>
                </a:solidFill>
                <a:latin typeface="Segoe UI"/>
              </a:rPr>
              <a:t>UniVerify V2.0 shows how blockchain can solve academic credential forgery by making records immutable, transparent and instantly verifiable.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300" b="0" i="0">
                <a:solidFill>
                  <a:srgbClr val="8B949E"/>
                </a:solidFill>
                <a:latin typeface="Segoe UI"/>
              </a:rPr>
              <a:t>By combining Solidity smart contracts, the Ethereum Sepolia testnet and an Ethers.js Web3 frontend, the system removes slow centralized verification while guaranteeing data integrity through cryptography.</a:t>
            </a:r>
          </a:p>
          <a:p>
            <a:pPr algn="l"/>
            <a:r>
              <a:rPr sz="1500" b="1" i="0">
                <a:solidFill>
                  <a:srgbClr val="3FB950"/>
                </a:solidFill>
                <a:latin typeface="Segoe UI"/>
              </a:rPr>
              <a:t>Immutable  •  Instant  •  Trustless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118872" cy="84124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29768"/>
            <a:ext cx="91440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676656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0F6FC"/>
                </a:solidFill>
                <a:latin typeface="Segoe UI Semibold"/>
              </a:rPr>
              <a:t>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58A6FF"/>
                </a:solidFill>
                <a:latin typeface="Segoe UI"/>
              </a:rPr>
              <a:t>UniVerify V2.0  </a:t>
            </a:r>
            <a:r>
              <a:rPr sz="950">
                <a:solidFill>
                  <a:srgbClr val="8B949E"/>
                </a:solidFill>
                <a:latin typeface="Segoe UI"/>
              </a:rPr>
              <a:t>|  Shaik Abdulla M - 231061101493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7395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22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91640"/>
            <a:ext cx="10881360" cy="310896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65960"/>
            <a:ext cx="10241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Gresch, J. et al. (2018). The Proof is in the Pudding: Blockchain-based University Diplomas. IEEE.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Cheng, J. C. et al. (2018). Blockchain &amp; Smart Contract for Digital Certificate. IEEE ICASI.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Saleh, O. S. et al. (2020). Blockchain + IPFS for Tamper-Proof Document Storage.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Solidity Documentation — docs.soliditylang.org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Ethers.js v5 Documentation — docs.ethers.org/v5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Ethereum Sepolia Testnet — ethereum.org/developers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MetaMask Developer Docs — docs.metamask.io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Remix IDE — remix.ethereum.org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300">
                <a:solidFill>
                  <a:srgbClr val="8B949E"/>
                </a:solidFill>
                <a:latin typeface="Segoe UI"/>
              </a:rPr>
              <a:t>Project Repository — github.com/shaikmofficial-ai/Univerify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881360" cy="1143000"/>
          </a:xfrm>
          <a:prstGeom prst="roundRect">
            <a:avLst>
              <a:gd name="adj" fmla="val 5000"/>
            </a:avLst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10235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8A6FF"/>
                </a:solidFill>
                <a:latin typeface="Segoe UI Semibold"/>
              </a:rPr>
              <a:t>Thank You!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50992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8B949E"/>
                </a:solidFill>
                <a:latin typeface="Segoe UI"/>
              </a:rPr>
              <a:t>Questions &amp; Discussion  •  UniVerify V2.0  —  Decentralized Academic Credential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