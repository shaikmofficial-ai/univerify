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0" y="411480"/>
            <a:ext cx="457200" cy="457200"/>
          </a:xfrm>
          <a:prstGeom prst="roundRect">
            <a:avLst/>
          </a:prstGeom>
          <a:solidFill>
            <a:srgbClr val="1C222B"/>
          </a:solidFill>
          <a:ln w="12700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40880" y="612648"/>
            <a:ext cx="25603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96912" y="411480"/>
            <a:ext cx="457200" cy="457200"/>
          </a:xfrm>
          <a:prstGeom prst="roundRect">
            <a:avLst/>
          </a:prstGeom>
          <a:solidFill>
            <a:srgbClr val="1C222B"/>
          </a:solidFill>
          <a:ln w="12700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54112" y="612648"/>
            <a:ext cx="25603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10144" y="411480"/>
            <a:ext cx="457200" cy="457200"/>
          </a:xfrm>
          <a:prstGeom prst="roundRect">
            <a:avLst/>
          </a:prstGeom>
          <a:solidFill>
            <a:srgbClr val="1C222B"/>
          </a:solidFill>
          <a:ln w="12700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67344" y="612648"/>
            <a:ext cx="25603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23376" y="411480"/>
            <a:ext cx="457200" cy="457200"/>
          </a:xfrm>
          <a:prstGeom prst="roundRect">
            <a:avLst/>
          </a:prstGeom>
          <a:solidFill>
            <a:srgbClr val="1C222B"/>
          </a:solidFill>
          <a:ln w="12700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80576" y="612648"/>
            <a:ext cx="25603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36608" y="411480"/>
            <a:ext cx="457200" cy="457200"/>
          </a:xfrm>
          <a:prstGeom prst="roundRect">
            <a:avLst/>
          </a:prstGeom>
          <a:solidFill>
            <a:srgbClr val="1C222B"/>
          </a:solidFill>
          <a:ln w="12700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93808" y="612648"/>
            <a:ext cx="25603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149840" y="411480"/>
            <a:ext cx="457200" cy="457200"/>
          </a:xfrm>
          <a:prstGeom prst="roundRect">
            <a:avLst/>
          </a:prstGeom>
          <a:solidFill>
            <a:srgbClr val="1C222B"/>
          </a:solidFill>
          <a:ln w="12700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0" y="612648"/>
            <a:ext cx="25603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863072" y="411480"/>
            <a:ext cx="457200" cy="457200"/>
          </a:xfrm>
          <a:prstGeom prst="roundRect">
            <a:avLst/>
          </a:prstGeom>
          <a:solidFill>
            <a:srgbClr val="1C222B"/>
          </a:solidFill>
          <a:ln w="12700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8778240" y="4206240"/>
            <a:ext cx="3017520" cy="3017520"/>
          </a:xfrm>
          <a:prstGeom prst="hexagon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Segoe UI"/>
              </a:rPr>
              <a:t>BLOCKCHAIN  •  WEB3  •  MINI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6596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0" b="1" i="0">
                <a:solidFill>
                  <a:srgbClr val="F0F6FC"/>
                </a:solidFill>
                <a:latin typeface="Segoe UI Semibold"/>
              </a:rPr>
              <a:t>UniVerify V2.0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FB950"/>
                </a:solidFill>
                <a:latin typeface="Segoe UI"/>
              </a:rPr>
              <a:t>Decentralized Academic Credential Verification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8B949E"/>
                </a:solidFill>
                <a:latin typeface="Segoe UI"/>
              </a:rPr>
              <a:t>Eliminating certificate forgery using immutable Ethereum smart contracts.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617720"/>
            <a:ext cx="1179576" cy="457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81728"/>
            <a:ext cx="11795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Segoe UI"/>
              </a:rPr>
              <a:t>Solidity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85416" y="4617720"/>
            <a:ext cx="1298448" cy="457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85416" y="4681728"/>
            <a:ext cx="12984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  <a:latin typeface="Segoe UI"/>
              </a:rPr>
              <a:t>Ethers.js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66744" y="461772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66744" y="4681728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C8CFF"/>
                </a:solidFill>
                <a:latin typeface="Segoe UI"/>
              </a:rPr>
              <a:t>Sepolia Testnet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61304" y="4617720"/>
            <a:ext cx="1179576" cy="457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F7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1304" y="4681728"/>
            <a:ext cx="11795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78A3B"/>
                </a:solidFill>
                <a:latin typeface="Segoe UI"/>
              </a:rPr>
              <a:t>MetaMask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532120"/>
            <a:ext cx="3840480" cy="25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Segoe UI"/>
              </a:rPr>
              <a:t>Presented by:  Shaik M.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8B949E"/>
                </a:solidFill>
                <a:latin typeface="Segoe UI"/>
              </a:rPr>
              <a:t>Department of Computer Science &amp; Engineering  |  Final Project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29384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Abstract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Project at a glance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78308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783080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901952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1929384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Problem Statement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Why forgery is a real threat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78308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783080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901952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1929384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Existing System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Limitations of current 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62072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62072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80944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008376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Proposed Solution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Objectives &amp; approach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2862072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5112" y="2862072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980944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3008376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System Architecture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End-to-end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2862072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0144" y="2862072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2980944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704" y="3008376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Technology Stack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Tools &amp; frameworks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941064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941064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059936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4087368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Smart Contract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On-chain logic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5112" y="3941064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5112" y="3941064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4059936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4087368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Working / Flow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Issuance &amp; verification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0144" y="3941064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10144" y="3941064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8744" y="4059936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4087368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Implementation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Frontend + Web3 bridge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020056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5020056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13892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516636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Results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Live demonstration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25112" y="5020056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5112" y="5020056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3712" y="513892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76672" y="516636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Advantages &amp; Scope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Benefits &amp; future work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10144" y="5020056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10144" y="5020056"/>
            <a:ext cx="82296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38744" y="513892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  <a:latin typeface="Segoe UI Semibold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61704" y="516636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  <a:latin typeface="Segoe UI"/>
              </a:rPr>
              <a:t>Conclusion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8B949E"/>
                </a:solidFill>
                <a:latin typeface="Segoe UI"/>
              </a:rP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766560" cy="4297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62179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F0F6FC"/>
                </a:solidFill>
                <a:latin typeface="Segoe UI"/>
              </a:rPr>
              <a:t>UniVerify V2.0 is a Web3 application engineered to eliminate academic credential forgery.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Educational institutions anchor degree metadata to the Ethereum Sepolia Testnet using cryptographic hashes. Once a transaction is mined, the record becomes permanent and tamper-proof.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Verification is instant: a recruiter or institution enters a student's Register Number, and the system queries the blockchain in O(1) time via Solidity mappings, returning an authentic, cryptographically-backed record — with no central authority required.</a:t>
            </a:r>
          </a:p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3FB950"/>
                </a:solidFill>
                <a:latin typeface="Segoe UI"/>
              </a:rPr>
              <a:t>The result is a trustless, transparent and globally verifiable system for academic certificates.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783080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892808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3FB950"/>
                </a:solidFill>
                <a:latin typeface="Segoe UI Semibold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892808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  <a:latin typeface="Segoe UI"/>
              </a:rPr>
              <a:t>Tamper-proof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862072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97180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Segoe UI Semibold"/>
              </a:rPr>
              <a:t>O(1)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97180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  <a:latin typeface="Segoe UI"/>
              </a:rPr>
              <a:t>Search complexity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941064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5875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050792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BC8CFF"/>
                </a:solidFill>
                <a:latin typeface="Segoe UI Semibold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050792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  <a:latin typeface="Segoe UI"/>
              </a:rPr>
              <a:t>Central authorities needed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020056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5875">
            <a:solidFill>
              <a:srgbClr val="F7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5129784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78A3B"/>
                </a:solidFill>
                <a:latin typeface="Segoe UI Semibold"/>
              </a:rPr>
              <a:t>24/7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5129784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  <a:latin typeface="Segoe UI"/>
              </a:rPr>
              <a:t>Global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  <a:latin typeface="Segoe UI"/>
              </a:rPr>
              <a:t>Fake degrees and certificate fraud cost organizations time, money and trust worldwide.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5349240" cy="82296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679192"/>
            <a:ext cx="502920" cy="50292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  <a:latin typeface="Segoe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0604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0F6FC"/>
                </a:solidFill>
                <a:latin typeface="Segoe UI"/>
              </a:rPr>
              <a:t>Rampant Forgery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44952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Certificates are easily photoshopped or printed. Manual seals &amp; signatures offer weak protection.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3172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331720"/>
            <a:ext cx="5349240" cy="82296"/>
          </a:xfrm>
          <a:prstGeom prst="rect">
            <a:avLst/>
          </a:prstGeom>
          <a:solidFill>
            <a:srgbClr val="F7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2679192"/>
            <a:ext cx="502920" cy="502920"/>
          </a:xfrm>
          <a:prstGeom prst="ellipse">
            <a:avLst/>
          </a:prstGeom>
          <a:solidFill>
            <a:srgbClr val="F7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7919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  <a:latin typeface="Segoe U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60604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0F6FC"/>
                </a:solidFill>
                <a:latin typeface="Segoe UI"/>
              </a:rPr>
              <a:t>Slow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44952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Employers must email or call universities and wait days/weeks for manual confirmation.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51960"/>
            <a:ext cx="5349240" cy="82296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599432"/>
            <a:ext cx="502920" cy="502920"/>
          </a:xfrm>
          <a:prstGeom prst="ellipse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994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  <a:latin typeface="Segoe UI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52628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0F6FC"/>
                </a:solidFill>
                <a:latin typeface="Segoe UI"/>
              </a:rPr>
              <a:t>Single Point of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965192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If a university's database is lost, hacked or shut down, records become unverifiable.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5196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251960"/>
            <a:ext cx="5349240" cy="8229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92240" y="4599432"/>
            <a:ext cx="502920" cy="502920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5994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  <a:latin typeface="Segoe U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52628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0F6FC"/>
                </a:solidFill>
                <a:latin typeface="Segoe UI"/>
              </a:rPr>
              <a:t>No Global Standard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965192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B949E"/>
                </a:solidFill>
                <a:latin typeface="Segoe UI"/>
              </a:rPr>
              <a:t>Cross-border verification is inconsistent, costly and prone to manipulation.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Existing System vs. 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85149"/>
                </a:solidFill>
                <a:latin typeface="Segoe UI"/>
              </a:rPr>
              <a:t>❌  Traditional / Existing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85149"/>
                </a:solidFill>
                <a:latin typeface="Segoe UI"/>
              </a:rPr>
              <a:t>✗  </a:t>
            </a:r>
            <a:r>
              <a:rPr sz="1400">
                <a:solidFill>
                  <a:srgbClr val="8B949E"/>
                </a:solidFill>
                <a:latin typeface="Segoe UI"/>
              </a:rPr>
              <a:t>Paper certificates with physical seals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85149"/>
                </a:solidFill>
                <a:latin typeface="Segoe UI"/>
              </a:rPr>
              <a:t>✗  </a:t>
            </a:r>
            <a:r>
              <a:rPr sz="1400">
                <a:solidFill>
                  <a:srgbClr val="8B949E"/>
                </a:solidFill>
                <a:latin typeface="Segoe UI"/>
              </a:rPr>
              <a:t>Centralized university databases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85149"/>
                </a:solidFill>
                <a:latin typeface="Segoe UI"/>
              </a:rPr>
              <a:t>✗  </a:t>
            </a:r>
            <a:r>
              <a:rPr sz="1400">
                <a:solidFill>
                  <a:srgbClr val="8B949E"/>
                </a:solidFill>
                <a:latin typeface="Segoe UI"/>
              </a:rPr>
              <a:t>Manual, email-based verification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85149"/>
                </a:solidFill>
                <a:latin typeface="Segoe UI"/>
              </a:rPr>
              <a:t>✗  </a:t>
            </a:r>
            <a:r>
              <a:rPr sz="1400">
                <a:solidFill>
                  <a:srgbClr val="8B949E"/>
                </a:solidFill>
                <a:latin typeface="Segoe UI"/>
              </a:rPr>
              <a:t>Easily forged or duplicated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85149"/>
                </a:solidFill>
                <a:latin typeface="Segoe UI"/>
              </a:rPr>
              <a:t>✗  </a:t>
            </a:r>
            <a:r>
              <a:rPr sz="1400">
                <a:solidFill>
                  <a:srgbClr val="8B949E"/>
                </a:solidFill>
                <a:latin typeface="Segoe UI"/>
              </a:rPr>
              <a:t>Vulnerable to data loss &amp; hacking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85149"/>
                </a:solidFill>
                <a:latin typeface="Segoe UI"/>
              </a:rPr>
              <a:t>✗  </a:t>
            </a:r>
            <a:r>
              <a:rPr sz="1400">
                <a:solidFill>
                  <a:srgbClr val="8B949E"/>
                </a:solidFill>
                <a:latin typeface="Segoe UI"/>
              </a:rPr>
              <a:t>No transparency for third parties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85149"/>
                </a:solidFill>
                <a:latin typeface="Segoe UI"/>
              </a:rPr>
              <a:t>✗  </a:t>
            </a:r>
            <a:r>
              <a:rPr sz="1400">
                <a:solidFill>
                  <a:srgbClr val="8B949E"/>
                </a:solidFill>
                <a:latin typeface="Segoe UI"/>
              </a:rPr>
              <a:t>Time-consuming (days to weeks)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  <a:latin typeface="Segoe UI"/>
              </a:rPr>
              <a:t>✅  UniVerify (Proposed)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Digital records on Ethereum blockchain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Decentralized &amp; distributed ledger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Instant, self-service verification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Cryptographically tamper-proof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Immutable — cannot be altered/deleted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Fully transparent &amp; publicly auditable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Real-time (seconds)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Objectives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520440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2039112"/>
            <a:ext cx="640080" cy="64008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8A6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Segoe UI"/>
              </a:rPr>
              <a:t>Immutability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1546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Anchor credential metadata on-chain so records are permanent and cannot be altered once mined.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783080"/>
            <a:ext cx="3520440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1144" y="2039112"/>
            <a:ext cx="640080" cy="64008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03911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3FB950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7889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Segoe UI"/>
              </a:rPr>
              <a:t>Instant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1546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Provide O(1) lookup of certificates using Solidity mappings keyed by Register Number.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83080"/>
            <a:ext cx="3520440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66176" y="2039112"/>
            <a:ext cx="640080" cy="64008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203911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BC8C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7889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Segoe UI"/>
              </a:rPr>
              <a:t>Trustless 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31546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Restrict issuance to the university wallet via on-chain access control — no middlemen.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59352"/>
            <a:ext cx="3520440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4215384"/>
            <a:ext cx="640080" cy="64008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F7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21538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8A3B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96519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Segoe UI"/>
              </a:rPr>
              <a:t>Accessible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330952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Deliver a clean Web3 portal where anyone can verify a degree with just a register number.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5112" y="3959352"/>
            <a:ext cx="3520440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81144" y="4215384"/>
            <a:ext cx="640080" cy="64008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1144" y="421538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85149"/>
                </a:solidFill>
                <a:latin typeface="Segoe UI Semibol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496519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Segoe UI"/>
              </a:rPr>
              <a:t>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4" y="5330952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Use MetaMask signing for administrative actions and cryptographic hashes for file integrity.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3959352"/>
            <a:ext cx="3520440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66176" y="4215384"/>
            <a:ext cx="640080" cy="64008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6" y="421538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8A6FF"/>
                </a:solidFill>
                <a:latin typeface="Segoe UI Semibol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96519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Segoe UI"/>
              </a:rPr>
              <a:t>Cost-Efficient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5330952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Deploy on Ethereum Sepolia Testnet for a zero-cost, production-like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HOW IT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224028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505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58A6FF"/>
                </a:solidFill>
                <a:latin typeface="Segoe UI"/>
              </a:rPr>
              <a:t>User / Recruiter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52928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8B949E"/>
                </a:solidFill>
                <a:latin typeface="Segoe UI"/>
              </a:rPr>
              <a:t>Enters Register Number in the web portal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52928" y="2880360"/>
            <a:ext cx="502920" cy="365760"/>
          </a:xfrm>
          <a:prstGeom prst="rightArrow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24028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4505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FB950"/>
                </a:solidFill>
                <a:latin typeface="Segoe UI"/>
              </a:rPr>
              <a:t>Frontend (DApp)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52928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8B949E"/>
                </a:solidFill>
                <a:latin typeface="Segoe UI"/>
              </a:rPr>
              <a:t>HTML / CSS / JS
UI &amp; input handling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33288" y="2880360"/>
            <a:ext cx="502920" cy="365760"/>
          </a:xfrm>
          <a:prstGeom prst="rightArrow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224028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4505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C8CFF"/>
                </a:solidFill>
                <a:latin typeface="Segoe UI"/>
              </a:rPr>
              <a:t>Ethers.js + MetaMask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52928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8B949E"/>
                </a:solidFill>
                <a:latin typeface="Segoe UI"/>
              </a:rPr>
              <a:t>Web3 bridge signs &amp; sends calls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13648" y="2880360"/>
            <a:ext cx="502920" cy="365760"/>
          </a:xfrm>
          <a:prstGeom prst="rightArrow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9720" y="2286000"/>
            <a:ext cx="242316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F7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78A3B"/>
                </a:solidFill>
                <a:latin typeface="Segoe UI"/>
              </a:rPr>
              <a:t>Smart 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852928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8B949E"/>
                </a:solidFill>
                <a:latin typeface="Segoe UI"/>
              </a:rPr>
              <a:t>AcademicCertificates on Sepolia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Segoe UI"/>
              </a:rPr>
              <a:t>Ethereum Sepolia Testnet  —  Immutable Distributed Ledger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2000"/>
            <a:ext cx="1234440" cy="822960"/>
          </a:xfrm>
          <a:prstGeom prst="roundRect">
            <a:avLst/>
          </a:prstGeom>
          <a:solidFill>
            <a:srgbClr val="1C222B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6817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FB950"/>
                </a:solidFill>
                <a:latin typeface="Segoe UI"/>
              </a:rPr>
              <a:t>Block 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5604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onsolas"/>
              </a:rPr>
              <a:t>0x0000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4937760"/>
            <a:ext cx="164592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947672" y="4572000"/>
            <a:ext cx="1234440" cy="822960"/>
          </a:xfrm>
          <a:prstGeom prst="roundRect">
            <a:avLst/>
          </a:prstGeom>
          <a:solidFill>
            <a:srgbClr val="1C222B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47672" y="46817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FB950"/>
                </a:solidFill>
                <a:latin typeface="Segoe UI"/>
              </a:rPr>
              <a:t>Block #2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7672" y="495604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onsolas"/>
              </a:rPr>
              <a:t>0x1087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2112" y="4937760"/>
            <a:ext cx="164592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46704" y="4572000"/>
            <a:ext cx="1234440" cy="822960"/>
          </a:xfrm>
          <a:prstGeom prst="roundRect">
            <a:avLst/>
          </a:prstGeom>
          <a:solidFill>
            <a:srgbClr val="1C222B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6704" y="46817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FB950"/>
                </a:solidFill>
                <a:latin typeface="Segoe UI"/>
              </a:rPr>
              <a:t>Block #3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704" y="495604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onsolas"/>
              </a:rPr>
              <a:t>0x210e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81144" y="4937760"/>
            <a:ext cx="164592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745736" y="4572000"/>
            <a:ext cx="1234440" cy="822960"/>
          </a:xfrm>
          <a:prstGeom prst="roundRect">
            <a:avLst/>
          </a:prstGeom>
          <a:solidFill>
            <a:srgbClr val="1C222B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5736" y="46817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FB950"/>
                </a:solidFill>
                <a:latin typeface="Segoe UI"/>
              </a:rPr>
              <a:t>Block #4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5736" y="495604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onsolas"/>
              </a:rPr>
              <a:t>0x3195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0176" y="4937760"/>
            <a:ext cx="164592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44768" y="4572000"/>
            <a:ext cx="1234440" cy="822960"/>
          </a:xfrm>
          <a:prstGeom prst="roundRect">
            <a:avLst/>
          </a:prstGeom>
          <a:solidFill>
            <a:srgbClr val="1C222B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46817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FB950"/>
                </a:solidFill>
                <a:latin typeface="Segoe UI"/>
              </a:rPr>
              <a:t>Block #5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495604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onsolas"/>
              </a:rPr>
              <a:t>0x421c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9208" y="4937760"/>
            <a:ext cx="164592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543800" y="4572000"/>
            <a:ext cx="1234440" cy="822960"/>
          </a:xfrm>
          <a:prstGeom prst="roundRect">
            <a:avLst/>
          </a:prstGeom>
          <a:solidFill>
            <a:srgbClr val="1C222B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46817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FB950"/>
                </a:solidFill>
                <a:latin typeface="Segoe UI"/>
              </a:rPr>
              <a:t>Block #6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495604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onsolas"/>
              </a:rPr>
              <a:t>0x52a3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4937760"/>
            <a:ext cx="164592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942832" y="4572000"/>
            <a:ext cx="1234440" cy="822960"/>
          </a:xfrm>
          <a:prstGeom prst="roundRect">
            <a:avLst/>
          </a:prstGeom>
          <a:solidFill>
            <a:srgbClr val="1C222B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42832" y="46817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FB950"/>
                </a:solidFill>
                <a:latin typeface="Segoe UI"/>
              </a:rPr>
              <a:t>Block #7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42832" y="495604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onsolas"/>
              </a:rPr>
              <a:t>0x632a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77272" y="4937760"/>
            <a:ext cx="164592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341864" y="4572000"/>
            <a:ext cx="1234440" cy="822960"/>
          </a:xfrm>
          <a:prstGeom prst="roundRect">
            <a:avLst/>
          </a:prstGeom>
          <a:solidFill>
            <a:srgbClr val="1C222B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41864" y="46817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FB950"/>
                </a:solidFill>
                <a:latin typeface="Segoe UI"/>
              </a:rPr>
              <a:t>Block #8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41864" y="495604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onsolas"/>
              </a:rPr>
              <a:t>0x73b1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5321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8B949E"/>
                </a:solidFill>
                <a:latin typeface="Segoe UI"/>
              </a:rPr>
              <a:t>Each block is cryptographically linked to the previous one — altering any record breaks the entire chain.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TOOLS &amp;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2670048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2670048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39112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0F6FC"/>
                </a:solidFill>
                <a:latin typeface="Segoe UI"/>
              </a:rPr>
              <a:t>Solidity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9631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Segoe UI"/>
              </a:rPr>
              <a:t>SMART CONTRACT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880360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On-chain logic for issuing &amp; retrieving certificates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783080"/>
            <a:ext cx="2670048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783080"/>
            <a:ext cx="2670048" cy="73152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0F6FC"/>
                </a:solidFill>
                <a:latin typeface="Segoe UI"/>
              </a:rPr>
              <a:t>Ethereum (Sepolia)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9631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C8CFF"/>
                </a:solidFill>
                <a:latin typeface="Segoe UI"/>
              </a:rPr>
              <a:t>BLOCKCHAIN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80360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Public test network hosting the immutable ledger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1783080"/>
            <a:ext cx="2670048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1783080"/>
            <a:ext cx="2670048" cy="7315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039112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0F6FC"/>
                </a:solidFill>
                <a:latin typeface="Segoe UI"/>
              </a:rPr>
              <a:t>Ethers.js v5.7.2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49631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WEB3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880360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Connects the frontend to the blockchain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1783080"/>
            <a:ext cx="2670048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89136" y="1783080"/>
            <a:ext cx="2670048" cy="73152"/>
          </a:xfrm>
          <a:prstGeom prst="rect">
            <a:avLst/>
          </a:prstGeom>
          <a:solidFill>
            <a:srgbClr val="F7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2039112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0F6FC"/>
                </a:solidFill>
                <a:latin typeface="Segoe UI"/>
              </a:rPr>
              <a:t>MetaMask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249631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78A3B"/>
                </a:solidFill>
                <a:latin typeface="Segoe UI"/>
              </a:rPr>
              <a:t>CRYPTO WALLET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880360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Signs administrative transactions securely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77640"/>
            <a:ext cx="2670048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977640"/>
            <a:ext cx="2670048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233672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0F6FC"/>
                </a:solidFill>
                <a:latin typeface="Segoe UI"/>
              </a:rPr>
              <a:t>HTML / 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69087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  <a:latin typeface="Segoe UI"/>
              </a:rPr>
              <a:t>FRONTEND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074920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Responsive, glass-morphism verification portal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3977640"/>
            <a:ext cx="2670048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56432" y="3977640"/>
            <a:ext cx="2670048" cy="7315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4233672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0F6FC"/>
                </a:solidFill>
                <a:latin typeface="Segoe UI"/>
              </a:rPr>
              <a:t>JavaScript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69087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CLIENT LOGIC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074920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Handles user input and async contract calls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2784" y="3977640"/>
            <a:ext cx="2670048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2784" y="3977640"/>
            <a:ext cx="2670048" cy="73152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4233672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0F6FC"/>
                </a:solidFill>
                <a:latin typeface="Segoe UI"/>
              </a:rPr>
              <a:t>Remix 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469087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C8CFF"/>
                </a:solidFill>
                <a:latin typeface="Segoe UI"/>
              </a:rPr>
              <a:t>DEVELOPMENT ENV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5074920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Writing, compiling &amp; deploying contracts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89136" y="3977640"/>
            <a:ext cx="2670048" cy="19933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89136" y="3977640"/>
            <a:ext cx="2670048" cy="73152"/>
          </a:xfrm>
          <a:prstGeom prst="rect">
            <a:avLst/>
          </a:prstGeom>
          <a:solidFill>
            <a:srgbClr val="F7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0304" y="4233672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0F6FC"/>
                </a:solidFill>
                <a:latin typeface="Segoe UI"/>
              </a:rPr>
              <a:t>IPFS Hash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0304" y="469087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78A3B"/>
                </a:solidFill>
                <a:latin typeface="Segoe UI"/>
              </a:rPr>
              <a:t>FILE REFERENCE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0304" y="5074920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49E"/>
                </a:solidFill>
                <a:latin typeface="Segoe UI"/>
              </a:rPr>
              <a:t>Links the on-chain record to the actual document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ON-CHAIN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Smart Contract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400800" cy="4343400"/>
          </a:xfrm>
          <a:prstGeom prst="roundRect">
            <a:avLst>
              <a:gd name="adj" fmla="val 6000"/>
            </a:avLst>
          </a:prstGeom>
          <a:solidFill>
            <a:srgbClr val="0A0E14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984248"/>
            <a:ext cx="128016" cy="128016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1984248"/>
            <a:ext cx="128016" cy="128016"/>
          </a:xfrm>
          <a:prstGeom prst="ellipse">
            <a:avLst/>
          </a:prstGeom>
          <a:solidFill>
            <a:srgbClr val="F7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0744" y="1984248"/>
            <a:ext cx="128016" cy="128016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9019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onsolas"/>
              </a:rPr>
              <a:t>AcademicCert.sol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5852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8B949E"/>
                </a:solidFill>
                <a:latin typeface="Consolas"/>
              </a:rPr>
              <a:t>// SPDX-License-Identifier: MIT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BC8CFF"/>
                </a:solidFill>
                <a:latin typeface="Consolas"/>
              </a:rPr>
              <a:t>pragma solidity ^0.8.0;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8A6FF"/>
                </a:solidFill>
                <a:latin typeface="Consolas"/>
              </a:rPr>
              <a:t>contract AcademicCertificates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3FB950"/>
                </a:solidFill>
                <a:latin typeface="Consolas"/>
              </a:rPr>
              <a:t>    struct Certificate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       string studentName;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       string courseName;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8B949E"/>
                </a:solidFill>
                <a:latin typeface="Consolas"/>
              </a:rPr>
              <a:t>        string ipfsHash;   // link to PDF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3FB950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   mapping(uint256 =&gt; Certificate) public certificates;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   address public university;  // contract owner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78A3B"/>
                </a:solidFill>
                <a:latin typeface="Consolas"/>
              </a:rPr>
              <a:t>    function issueDegree(...) public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85149"/>
                </a:solidFill>
                <a:latin typeface="Consolas"/>
              </a:rPr>
              <a:t>        require(msg.sender == university,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85149"/>
                </a:solidFill>
                <a:latin typeface="Consolas"/>
              </a:rPr>
              <a:t>          "Only the University can issue!");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       certificates[nextId] = Certificate(...);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78A3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8A6FF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783080"/>
            <a:ext cx="4297680" cy="4343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9659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  <a:latin typeface="Segoe UI"/>
              </a:rPr>
              <a:t>Key Design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468880"/>
            <a:ext cx="3886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Struct  </a:t>
            </a:r>
            <a:r>
              <a:rPr sz="1250">
                <a:solidFill>
                  <a:srgbClr val="8B949E"/>
                </a:solidFill>
                <a:latin typeface="Segoe UI"/>
              </a:rPr>
              <a:t>groups student name, course &amp; IPFS file hash into one record.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Mapping  </a:t>
            </a:r>
            <a:r>
              <a:rPr sz="1250">
                <a:solidFill>
                  <a:srgbClr val="8B949E"/>
                </a:solidFill>
                <a:latin typeface="Segoe UI"/>
              </a:rPr>
              <a:t>stores certificates keyed by ID for O(1) instant retrieval.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Owner Lock  </a:t>
            </a:r>
            <a:r>
              <a:rPr sz="1250">
                <a:solidFill>
                  <a:srgbClr val="8B949E"/>
                </a:solidFill>
                <a:latin typeface="Segoe UI"/>
              </a:rPr>
              <a:t>`university` address is set in the constructor at deploy time.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Access Control  </a:t>
            </a:r>
            <a:r>
              <a:rPr sz="1250">
                <a:solidFill>
                  <a:srgbClr val="8B949E"/>
                </a:solidFill>
                <a:latin typeface="Segoe UI"/>
              </a:rPr>
              <a:t>`require()` ensures only the university wallet can issue degrees.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Immutability  </a:t>
            </a:r>
            <a:r>
              <a:rPr sz="1250">
                <a:solidFill>
                  <a:srgbClr val="8B949E"/>
                </a:solidFill>
                <a:latin typeface="Segoe UI"/>
              </a:rPr>
              <a:t>once a transaction is mined, the record is permanent on-chain.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ISSUANCE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Working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A.  Certificate Issuance  (Admin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0F6FC"/>
                </a:solidFill>
                <a:latin typeface="Segoe UI"/>
              </a:rPr>
              <a:t>University connects MetaMask wallet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7248" y="2587752"/>
            <a:ext cx="256032" cy="365760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214884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974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0F6FC"/>
                </a:solidFill>
                <a:latin typeface="Segoe UI"/>
              </a:rPr>
              <a:t>Enters Reg No, Name, Course &amp; file hash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70448" y="2587752"/>
            <a:ext cx="256032" cy="365760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214884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0F6FC"/>
                </a:solidFill>
                <a:latin typeface="Segoe UI"/>
              </a:rPr>
              <a:t>Signs the transaction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13648" y="2587752"/>
            <a:ext cx="256032" cy="365760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0" y="214884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6974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0F6FC"/>
                </a:solidFill>
                <a:latin typeface="Segoe UI"/>
              </a:rPr>
              <a:t>Record mined &amp; stored on-chain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11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  <a:latin typeface="Segoe UI"/>
              </a:rPr>
              <a:t>B.  Certificate Verification  (Anyone)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6177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0F6FC"/>
                </a:solidFill>
                <a:latin typeface="Segoe UI"/>
              </a:rPr>
              <a:t>User enters Register Number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127248" y="4507992"/>
            <a:ext cx="256032" cy="365760"/>
          </a:xfrm>
          <a:prstGeom prst="rightArrow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83280" y="406908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42062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  <a:latin typeface="Segoe UI Semibol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177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0F6FC"/>
                </a:solidFill>
                <a:latin typeface="Segoe UI"/>
              </a:rPr>
              <a:t>Ethers.js calls getCertificate()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870448" y="4507992"/>
            <a:ext cx="256032" cy="365760"/>
          </a:xfrm>
          <a:prstGeom prst="rightArrow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26480" y="406908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2062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  <a:latin typeface="Segoe UI Semibol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6177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0F6FC"/>
                </a:solidFill>
                <a:latin typeface="Segoe UI"/>
              </a:rPr>
              <a:t>Contract returns stored data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613648" y="4507992"/>
            <a:ext cx="256032" cy="365760"/>
          </a:xfrm>
          <a:prstGeom prst="rightArrow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69680" y="406908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0" y="42062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  <a:latin typeface="Segoe UI Semibold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6177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0F6FC"/>
                </a:solidFill>
                <a:latin typeface="Segoe UI"/>
              </a:rPr>
              <a:t>Authentic record displayed instantly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Segoe UI"/>
              </a:rPr>
              <a:t>If no record exists for the Register Number, the contract call reverts and a clear “Verification Failed” message is shown.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FRONTEND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Implementation — Web3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126480" cy="4343400"/>
          </a:xfrm>
          <a:prstGeom prst="roundRect">
            <a:avLst>
              <a:gd name="adj" fmla="val 6000"/>
            </a:avLst>
          </a:prstGeom>
          <a:solidFill>
            <a:srgbClr val="0A0E14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984248"/>
            <a:ext cx="128016" cy="128016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1984248"/>
            <a:ext cx="128016" cy="128016"/>
          </a:xfrm>
          <a:prstGeom prst="ellipse">
            <a:avLst/>
          </a:prstGeom>
          <a:solidFill>
            <a:srgbClr val="F7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0744" y="1984248"/>
            <a:ext cx="128016" cy="128016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9019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onsolas"/>
              </a:rPr>
              <a:t>script.js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55778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8B949E"/>
                </a:solidFill>
                <a:latin typeface="Consolas"/>
              </a:rPr>
              <a:t>// Connect to MetaMask provider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8A6FF"/>
                </a:solidFill>
                <a:latin typeface="Consolas"/>
              </a:rPr>
              <a:t>const provider =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 new ethers.providers.Web3Provider(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    window.ethereum);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8B949E"/>
                </a:solidFill>
                <a:latin typeface="Consolas"/>
              </a:rPr>
              <a:t>// Build contract instance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3FB950"/>
                </a:solidFill>
                <a:latin typeface="Consolas"/>
              </a:rPr>
              <a:t>const contract = new ethers.Contract(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  contractAddress, abi, provider);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8B949E"/>
                </a:solidFill>
                <a:latin typeface="Consolas"/>
              </a:rPr>
              <a:t>// Query the blockchain (O(1))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78A3B"/>
                </a:solidFill>
                <a:latin typeface="Consolas"/>
              </a:rPr>
              <a:t>const data =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 await contract.getCertificate(regNo);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F0F6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BC8CFF"/>
                </a:solidFill>
                <a:latin typeface="Consolas"/>
              </a:rPr>
              <a:t>// data[0]=Name  data[1]=Course  data[2]=Hash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783080"/>
            <a:ext cx="4572000" cy="4343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965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  <a:latin typeface="Segoe UI"/>
              </a:rPr>
              <a:t>Implementation Highlights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468880"/>
            <a:ext cx="4114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Contract Address  </a:t>
            </a:r>
            <a:r>
              <a:rPr sz="1250">
                <a:solidFill>
                  <a:srgbClr val="8B949E"/>
                </a:solidFill>
                <a:latin typeface="Segoe UI"/>
              </a:rPr>
              <a:t>hard-coded deployed V2 address on Sepolia.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ABI  </a:t>
            </a:r>
            <a:r>
              <a:rPr sz="1250">
                <a:solidFill>
                  <a:srgbClr val="8B949E"/>
                </a:solidFill>
                <a:latin typeface="Segoe UI"/>
              </a:rPr>
              <a:t>defines issueCertificate &amp; getCertificate interfaces.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Async/Await  </a:t>
            </a:r>
            <a:r>
              <a:rPr sz="1250">
                <a:solidFill>
                  <a:srgbClr val="8B949E"/>
                </a:solidFill>
                <a:latin typeface="Segoe UI"/>
              </a:rPr>
              <a:t>non-blocking calls keep the UI responsive.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Error Handling  </a:t>
            </a:r>
            <a:r>
              <a:rPr sz="1250">
                <a:solidFill>
                  <a:srgbClr val="8B949E"/>
                </a:solidFill>
                <a:latin typeface="Segoe UI"/>
              </a:rPr>
              <a:t>try/catch detects reverted (non-existent) records.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58A6FF"/>
                </a:solidFill>
                <a:latin typeface="Segoe UI"/>
              </a:rPr>
              <a:t>▸  </a:t>
            </a:r>
            <a:r>
              <a:rPr sz="1250" b="1">
                <a:solidFill>
                  <a:srgbClr val="F0F6FC"/>
                </a:solidFill>
                <a:latin typeface="Segoe UI"/>
              </a:rPr>
              <a:t>Dynamic UI  </a:t>
            </a:r>
            <a:r>
              <a:rPr sz="1250">
                <a:solidFill>
                  <a:srgbClr val="8B949E"/>
                </a:solidFill>
                <a:latin typeface="Segoe UI"/>
              </a:rPr>
              <a:t>results rendered as success / error states with color cues.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Results &amp;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  <a:latin typeface="Segoe UI"/>
              </a:rPr>
              <a:t>UniVerify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Segoe UI"/>
              </a:rPr>
              <a:t>Decentralized Certificate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246120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310128"/>
            <a:ext cx="3931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onsolas"/>
              </a:rPr>
              <a:t>2021CSE101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886200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238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50208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0F6FC"/>
                </a:solidFill>
                <a:latin typeface="Segoe UI"/>
              </a:rPr>
              <a:t>Verify on Blockchain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572000"/>
            <a:ext cx="4206240" cy="1051560"/>
          </a:xfrm>
          <a:prstGeom prst="roundRect">
            <a:avLst>
              <a:gd name="adj" fmla="val 6000"/>
            </a:avLst>
          </a:prstGeom>
          <a:solidFill>
            <a:srgbClr val="102616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681728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3FB950"/>
                </a:solidFill>
                <a:latin typeface="Segoe UI"/>
              </a:rPr>
              <a:t>✅ AUTHENTIC RECORD FOUND</a:t>
            </a:r>
          </a:p>
          <a:p>
            <a:pPr algn="l"/>
            <a:r>
              <a:rPr sz="1100" b="0" i="0">
                <a:solidFill>
                  <a:srgbClr val="F0F6FC"/>
                </a:solidFill>
                <a:latin typeface="Segoe UI"/>
              </a:rPr>
              <a:t>Student: Aarav Sharma</a:t>
            </a:r>
          </a:p>
          <a:p>
            <a:pPr algn="l"/>
            <a:r>
              <a:rPr sz="1100" b="0" i="0">
                <a:solidFill>
                  <a:srgbClr val="F0F6FC"/>
                </a:solidFill>
                <a:latin typeface="Segoe UI"/>
              </a:rPr>
              <a:t>Course: B.Tech CSE</a:t>
            </a:r>
          </a:p>
          <a:p>
            <a:pPr algn="l"/>
            <a:r>
              <a:rPr sz="1100" b="0" i="0">
                <a:solidFill>
                  <a:srgbClr val="8B949E"/>
                </a:solidFill>
                <a:latin typeface="Consolas"/>
              </a:rPr>
              <a:t>Hash: Qm7x...a91f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92024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488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  <a:latin typeface="Segoe UI"/>
              </a:rPr>
              <a:t>Achieved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Successfully deployed contract on Sepolia Testnet.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Issued sample certificates from the university wallet.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Verified records instantly by Register Number.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Confirmed unauthorized wallets are blocked from issuing.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Validated tamper-resistance — records cannot be edited.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400">
                <a:solidFill>
                  <a:srgbClr val="F0F6FC"/>
                </a:solidFill>
                <a:latin typeface="Segoe UI"/>
              </a:rPr>
              <a:t>Clean, responsive portal with success / error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Advantages &amp;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  <a:latin typeface="Segoe UI"/>
              </a:rPr>
              <a:t>Key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500">
                <a:solidFill>
                  <a:srgbClr val="F0F6FC"/>
                </a:solidFill>
                <a:latin typeface="Segoe UI"/>
              </a:rPr>
              <a:t>Tamper-proof &amp; permanent records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500">
                <a:solidFill>
                  <a:srgbClr val="F0F6FC"/>
                </a:solidFill>
                <a:latin typeface="Segoe UI"/>
              </a:rPr>
              <a:t>Instant, self-service verification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500">
                <a:solidFill>
                  <a:srgbClr val="F0F6FC"/>
                </a:solidFill>
                <a:latin typeface="Segoe UI"/>
              </a:rPr>
              <a:t>No central authority or middlemen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500">
                <a:solidFill>
                  <a:srgbClr val="F0F6FC"/>
                </a:solidFill>
                <a:latin typeface="Segoe UI"/>
              </a:rPr>
              <a:t>Globally accessible &amp; transparent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500">
                <a:solidFill>
                  <a:srgbClr val="F0F6FC"/>
                </a:solidFill>
                <a:latin typeface="Segoe UI"/>
              </a:rPr>
              <a:t>Low cost on test networks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✓  </a:t>
            </a:r>
            <a:r>
              <a:rPr sz="1500">
                <a:solidFill>
                  <a:srgbClr val="F0F6FC"/>
                </a:solidFill>
                <a:latin typeface="Segoe UI"/>
              </a:rPr>
              <a:t>Eliminates certificate forgery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  <a:latin typeface="Segoe UI"/>
              </a:rPr>
              <a:t>Real-World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240280"/>
            <a:ext cx="521208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240280"/>
            <a:ext cx="73152" cy="7772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500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Segoe UI"/>
              </a:rPr>
              <a:t>Universities &amp; Colleges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6090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Issue verifiable digital degrees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154680"/>
            <a:ext cx="521208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154680"/>
            <a:ext cx="73152" cy="7772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2644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Segoe UI"/>
              </a:rPr>
              <a:t>Recruiters &amp;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7530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Instantly validate candidate credentials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069080"/>
            <a:ext cx="521208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069080"/>
            <a:ext cx="73152" cy="7772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1788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Segoe UI"/>
              </a:rPr>
              <a:t>Online Course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8970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Tamper-proof completion certificates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983480"/>
            <a:ext cx="521208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983480"/>
            <a:ext cx="73152" cy="7772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0932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Segoe UI"/>
              </a:rPr>
              <a:t>Professional Bodies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40410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License &amp; membership verification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Limitations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F7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78A3B"/>
                </a:solidFill>
                <a:latin typeface="Segoe UI"/>
              </a:rPr>
              <a:t>Current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F78A3B"/>
                </a:solidFill>
                <a:latin typeface="Segoe UI"/>
              </a:rPr>
              <a:t>•  </a:t>
            </a:r>
            <a:r>
              <a:rPr sz="1400">
                <a:solidFill>
                  <a:srgbClr val="8B949E"/>
                </a:solidFill>
                <a:latin typeface="Segoe UI"/>
              </a:rPr>
              <a:t>Deployed on a testnet (not mainnet) for now.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F78A3B"/>
                </a:solidFill>
                <a:latin typeface="Segoe UI"/>
              </a:rPr>
              <a:t>•  </a:t>
            </a:r>
            <a:r>
              <a:rPr sz="1400">
                <a:solidFill>
                  <a:srgbClr val="8B949E"/>
                </a:solidFill>
                <a:latin typeface="Segoe UI"/>
              </a:rPr>
              <a:t>Document stored off-chain via IPFS hash only.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F78A3B"/>
                </a:solidFill>
                <a:latin typeface="Segoe UI"/>
              </a:rPr>
              <a:t>•  </a:t>
            </a:r>
            <a:r>
              <a:rPr sz="1400">
                <a:solidFill>
                  <a:srgbClr val="8B949E"/>
                </a:solidFill>
                <a:latin typeface="Segoe UI"/>
              </a:rPr>
              <a:t>Single university-admin (no multi-institution roles).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F78A3B"/>
                </a:solidFill>
                <a:latin typeface="Segoe UI"/>
              </a:rPr>
              <a:t>•  </a:t>
            </a:r>
            <a:r>
              <a:rPr sz="1400">
                <a:solidFill>
                  <a:srgbClr val="8B949E"/>
                </a:solidFill>
                <a:latin typeface="Segoe UI"/>
              </a:rPr>
              <a:t>Requires MetaMask for issuing certificates.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F78A3B"/>
                </a:solidFill>
                <a:latin typeface="Segoe UI"/>
              </a:rPr>
              <a:t>•  </a:t>
            </a:r>
            <a:r>
              <a:rPr sz="1400">
                <a:solidFill>
                  <a:srgbClr val="8B949E"/>
                </a:solidFill>
                <a:latin typeface="Segoe UI"/>
              </a:rPr>
              <a:t>Gas costs apply on a real production network.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  <a:latin typeface="Segoe UI"/>
              </a:rPr>
              <a:t>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F0F6FC"/>
                </a:solidFill>
                <a:latin typeface="Segoe UI"/>
              </a:rPr>
              <a:t>Multi-institution role-based access control.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F0F6FC"/>
                </a:solidFill>
                <a:latin typeface="Segoe UI"/>
              </a:rPr>
              <a:t>Full IPFS / decentralized document storage.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F0F6FC"/>
                </a:solidFill>
                <a:latin typeface="Segoe UI"/>
              </a:rPr>
              <a:t>QR-code based instant mobile verification.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F0F6FC"/>
                </a:solidFill>
                <a:latin typeface="Segoe UI"/>
              </a:rPr>
              <a:t>NFT-based degrees (soulbound tokens).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F0F6FC"/>
                </a:solidFill>
                <a:latin typeface="Segoe UI"/>
              </a:rPr>
              <a:t>Deployment on Ethereum / Polygon mainnet.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 </a:t>
            </a:r>
            <a:r>
              <a:rPr sz="1400">
                <a:solidFill>
                  <a:srgbClr val="F0F6FC"/>
                </a:solidFill>
                <a:latin typeface="Segoe UI"/>
              </a:rPr>
              <a:t>Bulk issuance &amp; analytics dashboard.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WRAPPING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10515600" cy="2468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5875">
            <a:solidFill>
              <a:srgbClr val="30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402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1" i="0">
                <a:solidFill>
                  <a:srgbClr val="F0F6FC"/>
                </a:solidFill>
                <a:latin typeface="Segoe UI"/>
              </a:rPr>
              <a:t>UniVerify V2.0 demonstrates how blockchain technology can solve a real-world problem — academic credential forgery — by making records immutable, transparent and instantly verifiable.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949E"/>
                </a:solidFill>
                <a:latin typeface="Segoe UI"/>
              </a:rPr>
              <a:t>By combining Solidity smart contracts, the Ethereum Sepolia testnet and an Ethers.js-powered Web3 frontend, the system removes the need for slow, centralized verification while guaranteeing data integrity through cryptography.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177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B950"/>
                </a:solidFill>
                <a:latin typeface="Segoe UI Semibold"/>
              </a:rPr>
              <a:t>Immutable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49E"/>
                </a:solidFill>
                <a:latin typeface="Segoe UI"/>
              </a:rPr>
              <a:t>Records can never be forged or altered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46177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800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  <a:latin typeface="Segoe UI Semibold"/>
              </a:rPr>
              <a:t>Instant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53035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49E"/>
                </a:solidFill>
                <a:latin typeface="Segoe UI"/>
              </a:rPr>
              <a:t>O(1) verification in 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46177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5875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4800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C8CFF"/>
                </a:solidFill>
                <a:latin typeface="Segoe UI Semibold"/>
              </a:rPr>
              <a:t>Trustless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53035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49E"/>
                </a:solidFill>
                <a:latin typeface="Segoe UI"/>
              </a:rPr>
              <a:t>No central authority required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Segoe UI Semibold"/>
              </a:rPr>
              <a:t>References &amp; Acknowledgement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Segoe UI"/>
              </a:rPr>
              <a:t>Decentralized Academic Credential Verification  •  Blockchain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8A6FF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743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8B949E"/>
                </a:solidFill>
                <a:latin typeface="Segoe UI"/>
              </a:rPr>
              <a:t>Solidity Documentation — docs.soliditylang.org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8B949E"/>
                </a:solidFill>
                <a:latin typeface="Segoe UI"/>
              </a:rPr>
              <a:t>Ethers.js v5 Documentation — docs.ethers.org/v5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8B949E"/>
                </a:solidFill>
                <a:latin typeface="Segoe UI"/>
              </a:rPr>
              <a:t>Ethereum Sepolia Testnet — ethereum.org/developers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8B949E"/>
                </a:solidFill>
                <a:latin typeface="Segoe UI"/>
              </a:rPr>
              <a:t>MetaMask Developer Docs — docs.metamask.io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8B949E"/>
                </a:solidFill>
                <a:latin typeface="Segoe UI"/>
              </a:rPr>
              <a:t>Remix IDE — remix.ethereum.org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 </a:t>
            </a:r>
            <a:r>
              <a:rPr sz="1400">
                <a:solidFill>
                  <a:srgbClr val="8B949E"/>
                </a:solidFill>
                <a:latin typeface="Segoe UI"/>
              </a:rPr>
              <a:t>Project Repository — github.com/shaikmofficial-ai/Univerify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58A6FF"/>
                </a:solidFill>
                <a:latin typeface="Segoe UI Semibold"/>
              </a:rPr>
              <a:t>Thank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Segoe UI"/>
              </a:rPr>
              <a:t>Questions &amp; Discussion  •  UniVerify V2.0  —  Decentralized Academic Credential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